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AUREX  ·  BCCL’S SECURE AI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81328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848"/>
              </a:spcAft>
              <a:defRPr sz="6600" b="1">
                <a:solidFill>
                  <a:srgbClr val="121111"/>
                </a:solidFill>
                <a:latin typeface="Helvetica Neue"/>
              </a:defRPr>
            </a:pPr>
            <a:r>
              <a:rPr spc="-160"/>
              <a:t>Reading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27248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88"/>
              </a:spcAft>
              <a:defRPr sz="2100" b="0">
                <a:solidFill>
                  <a:srgbClr val="5F5D5C"/>
                </a:solidFill>
                <a:latin typeface="Helvetica Neue"/>
              </a:defRPr>
            </a:pPr>
            <a:r>
              <a:t>A working method for getting from a spreadsheet you did not build</a:t>
            </a:r>
          </a:p>
          <a:p>
            <a:pPr algn="l">
              <a:lnSpc>
                <a:spcPct val="134000"/>
              </a:lnSpc>
              <a:spcAft>
                <a:spcPts val="588"/>
              </a:spcAft>
              <a:defRPr sz="2100" b="0">
                <a:solidFill>
                  <a:srgbClr val="5F5D5C"/>
                </a:solidFill>
                <a:latin typeface="Helvetica Neue"/>
              </a:defRPr>
            </a:pPr>
            <a:r>
              <a:t>to a number you would defend in front of your MD.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407408"/>
            <a:ext cx="2011680" cy="45720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4773168"/>
            <a:ext cx="10469880" cy="106070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773168"/>
            <a:ext cx="54864" cy="106070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495604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1">
                <a:solidFill>
                  <a:srgbClr val="121111"/>
                </a:solidFill>
                <a:latin typeface="Helvetica Neue"/>
              </a:defRPr>
            </a:pPr>
            <a:r>
              <a:rPr spc="90"/>
              <a:t>DISHANT SINGLA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526694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22"/>
              </a:spcAft>
              <a:defRPr sz="1150" b="0">
                <a:solidFill>
                  <a:srgbClr val="5F5D5C"/>
                </a:solidFill>
                <a:latin typeface="Helvetica Neue"/>
              </a:defRPr>
            </a:pPr>
            <a:r>
              <a:t>B.Tech, IIT Roorkee 2015  ·  Founder, Base42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30"/>
              <a:t>₹110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52852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ad business on the</a:t>
            </a:r>
          </a:p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platform I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4956048"/>
            <a:ext cx="7315" cy="694944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30"/>
              <a:t>1 Bn+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52852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ad impressions</a:t>
            </a:r>
          </a:p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a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0496" y="4956048"/>
            <a:ext cx="7315" cy="694944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30"/>
              <a:t>200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52852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monthly active</a:t>
            </a:r>
          </a:p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4956048"/>
            <a:ext cx="7315" cy="694944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30"/>
              <a:t>120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2852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Ola customer</a:t>
            </a:r>
          </a:p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profiles 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0899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22"/>
              </a:spcAft>
              <a:defRPr sz="1150" b="0">
                <a:solidFill>
                  <a:srgbClr val="8A857F"/>
                </a:solidFill>
                <a:latin typeface="Helvetica Neue"/>
              </a:defRPr>
            </a:pPr>
            <a:r>
              <a:rPr spc="40"/>
              <a:t>Tuesday 4 August 2026   ·   2:30–4:30 PM IST   ·   Live, hands-on   ·   Bring a laptop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50"/>
              <a:t>WHO IS RUNNING THIS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784"/>
              </a:spcAft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rPr spc="-60"/>
              <a:t>I have spent eight years building</a:t>
            </a:r>
          </a:p>
          <a:p>
            <a:pPr algn="l">
              <a:lnSpc>
                <a:spcPct val="122000"/>
              </a:lnSpc>
              <a:spcAft>
                <a:spcPts val="784"/>
              </a:spcAft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rPr spc="-60"/>
              <a:t>the systems these numbers come out 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4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Ola, Koo, Khatabook, Wealthy, HT Media. Customer data platforms, identity resolution, recommendation systems, ad targeting. Most recently the central data platform at HT Digital Streams, sitting under a ₹110 crore a year ad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24528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  <a:spcAft>
                <a:spcPts val="406"/>
              </a:spcAft>
              <a:defRPr sz="1450" b="0">
                <a:solidFill>
                  <a:srgbClr val="C79A2F"/>
                </a:solidFill>
                <a:latin typeface="Helvetica Neue"/>
              </a:defRPr>
            </a:pPr>
            <a:r>
              <a:t>Every trap in this session is one I have shipped, been burned by, or caught in review. That is the only reason it is in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1097280"/>
            <a:ext cx="3364992" cy="4718304"/>
          </a:xfrm>
          <a:prstGeom prst="rect">
            <a:avLst/>
          </a:prstGeom>
          <a:solidFill>
            <a:srgbClr val="262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3568" y="1097280"/>
            <a:ext cx="50292" cy="471830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3533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20"/>
              <a:t>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171907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₹110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0848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ad revenue running on the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40944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1 Bn+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7520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ad impressions a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099815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200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46557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monthly 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790187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120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41559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Ola customer profiles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4480559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₹2.5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4846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a year in retired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5170931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55366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duplicate IDs eliminated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Why a company pays for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The gap between a number that survives scrutiny and one that does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65376"/>
            <a:ext cx="5074920" cy="1298448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65376"/>
            <a:ext cx="50292" cy="129844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029968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34"/>
              </a:spcAft>
              <a:defRPr sz="1550" b="1">
                <a:solidFill>
                  <a:srgbClr val="121111"/>
                </a:solidFill>
                <a:latin typeface="Helvetica Neue"/>
              </a:defRPr>
            </a:pPr>
            <a:r>
              <a:t>The number nobody checked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A board pack goes out with a metric computed on the wrong date column. Three months of decisions get anchored to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328416"/>
            <a:ext cx="5074920" cy="1298448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328416"/>
            <a:ext cx="50292" cy="129844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93008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34"/>
              </a:spcAft>
              <a:defRPr sz="1550" b="1">
                <a:solidFill>
                  <a:srgbClr val="121111"/>
                </a:solidFill>
                <a:latin typeface="Helvetica Neue"/>
              </a:defRPr>
            </a:pPr>
            <a:r>
              <a:t>The definition nobody agreed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858768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Two teams present revenue in the same meeting, ₹40 Cr apart. Both are right. Nobody knows that yet.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791456"/>
            <a:ext cx="5074920" cy="1298448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791456"/>
            <a:ext cx="50292" cy="129844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956048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34"/>
              </a:spcAft>
              <a:defRPr sz="1550" b="1">
                <a:solidFill>
                  <a:srgbClr val="121111"/>
                </a:solidFill>
                <a:latin typeface="Helvetica Neue"/>
              </a:defRPr>
            </a:pPr>
            <a:r>
              <a:t>The trend that was three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5321808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A segment is declared a growth engine. One client churns and the growth engine goes with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865376"/>
            <a:ext cx="4892040" cy="4187952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865376"/>
            <a:ext cx="50292" cy="4187952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06654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WHAT CHANGES AFTER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450591"/>
            <a:ext cx="4224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  <a:spcAft>
                <a:spcPts val="392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Open a file you have never seen. Work out what it actually contains. Ask it eight questions that surface something. Then put a number in front of a decision-maker with the caveat already attached.</a:t>
            </a:r>
          </a:p>
          <a:p>
            <a:pPr algn="l">
              <a:lnSpc>
                <a:spcPct val="142000"/>
              </a:lnSpc>
              <a:spcAft>
                <a:spcPts val="392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</a:p>
          <a:p>
            <a:pPr algn="l">
              <a:lnSpc>
                <a:spcPct val="142000"/>
              </a:lnSpc>
              <a:spcAft>
                <a:spcPts val="392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None of that needs Excel skill or statistics training. It needs the sequence, and it needs to know where numbers go wrong.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5029200"/>
            <a:ext cx="4224528" cy="12801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212079"/>
            <a:ext cx="4224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434"/>
              </a:spcAft>
              <a:defRPr sz="1550" b="1">
                <a:solidFill>
                  <a:srgbClr val="0E8F7A"/>
                </a:solidFill>
                <a:latin typeface="Helvetica Neue"/>
              </a:defRPr>
            </a:pPr>
            <a:r>
              <a:t>Aurex does the execution.</a:t>
            </a:r>
          </a:p>
          <a:p>
            <a:pPr algn="l">
              <a:lnSpc>
                <a:spcPct val="126000"/>
              </a:lnSpc>
              <a:spcAft>
                <a:spcPts val="434"/>
              </a:spcAft>
              <a:defRPr sz="1550" b="1">
                <a:solidFill>
                  <a:srgbClr val="0E8F7A"/>
                </a:solidFill>
                <a:latin typeface="Helvetica Neue"/>
              </a:defRPr>
            </a:pPr>
            <a:r>
              <a:t>You do the judgement.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Five frameworks, one file, and the cards to run them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Everything in this session is designed to be reusable on Monday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029967"/>
            <a:ext cx="1975104" cy="50292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E01E29"/>
                </a:solidFill>
                <a:latin typeface="Helvetica Neue"/>
              </a:defRPr>
            </a:pPr>
            <a:r>
              <a:rPr spc="-6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SEVEN-STEP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The sequence for any unfamiliar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2029967"/>
            <a:ext cx="1975104" cy="50292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1256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0E8F7A"/>
                </a:solidFill>
                <a:latin typeface="Helvetica Neue"/>
              </a:defRPr>
            </a:pPr>
            <a:r>
              <a:rPr spc="-6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EIGHT LENSES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Every question a dataset can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2029967"/>
            <a:ext cx="1975104" cy="50292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4376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C79A2F"/>
                </a:solidFill>
                <a:latin typeface="Helvetica Neue"/>
              </a:defRPr>
            </a:pPr>
            <a:r>
              <a:rPr spc="-60"/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CHART 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Say the comparison, get the chart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8040" y="2029967"/>
            <a:ext cx="1975104" cy="50292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4E79CF"/>
                </a:solidFill>
                <a:latin typeface="Helvetica Neue"/>
              </a:defRPr>
            </a:pPr>
            <a:r>
              <a:rPr spc="-60"/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496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SIX DISTORTIONS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Where confident numbers go wrong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59" y="2029967"/>
            <a:ext cx="1975104" cy="50292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0615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B51D2A"/>
                </a:solidFill>
                <a:latin typeface="Helvetica Neue"/>
              </a:defRPr>
            </a:pPr>
            <a:r>
              <a:rPr spc="-60"/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5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FIVE-CHECK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615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What to verify before you send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62686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828031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YOU ALSO LEAVE WITH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175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20"/>
              </a:spcAft>
              <a:defRPr sz="1500" b="1">
                <a:solidFill>
                  <a:srgbClr val="121111"/>
                </a:solidFill>
                <a:latin typeface="Helvetica Neue"/>
              </a:defRPr>
            </a:pPr>
            <a:r>
              <a:t>The practice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3,079 rows of real-shaped ad bookings, traps included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175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20"/>
              </a:spcAft>
              <a:defRPr sz="1500" b="1">
                <a:solidFill>
                  <a:srgbClr val="121111"/>
                </a:solidFill>
                <a:latin typeface="Helvetica Neue"/>
              </a:defRPr>
            </a:pPr>
            <a:r>
              <a:t>Eight prompts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One per lens, written to force checkable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5175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20"/>
              </a:spcAft>
              <a:defRPr sz="1500" b="1">
                <a:solidFill>
                  <a:srgbClr val="121111"/>
                </a:solidFill>
                <a:latin typeface="Helvetica Neue"/>
              </a:defRPr>
            </a:pPr>
            <a:r>
              <a:t>The gate 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Five checks, one page, stick it on your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One file. Every framework runs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ad-sales-data.csv  ·  three years of advertising bookings, 2022 to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3,079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columns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cities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3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2,490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confirmed bookings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59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59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18903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₹44.8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net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328415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WHAT IS IN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1246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712464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booked and published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1246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Cities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712464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8 Indian metros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2793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Editions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279392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4 publications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2793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Ad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279392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Display, Digital, Classified, and two more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46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484632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10 advertiser sectors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846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Reps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84632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30 salespeople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4132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Money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41324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rate, discount, gross, 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4132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541324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confirmed, cancelled, pending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607161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625449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B51D2A"/>
                </a:solidFill>
                <a:latin typeface="Helvetica Neue"/>
              </a:defRPr>
            </a:pPr>
            <a:r>
              <a:t>It carries four planted data-quality faults. Finding them is Step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60"/>
              <a:t>MODULE 1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Seven-Step 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Analysts do not start with the numbers. They start with the decision,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then the shape of the file, and only then the arithmetic.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STEPS 1 TO 7  ·  25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THE FRAMEWORK</a:t>
            </a:r>
          </a:p>
        </p:txBody>
      </p:sp>
      <p:pic>
        <p:nvPicPr>
          <p:cNvPr id="6" name="Picture 5" descr="d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887" y="841248"/>
            <a:ext cx="9453920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Step 1 — CONTEXT: three questions before the file opens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Most weak analysis is a correct answer to a question nobody had.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697480"/>
            <a:ext cx="402336" cy="402336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60604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Who decides, and when?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9535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If you cannot name the person and the date, you are producing trivia.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630168"/>
            <a:ext cx="402336" cy="402336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53872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Which answer would change the decision?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8862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If every possible finding leads to the same action, do not run the analysis.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562856"/>
            <a:ext cx="402336" cy="402336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47141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What is the smallest version you could answer today?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81888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One metric, one dimension, one period. Widen later if it earns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What Step 1 sounds like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Same file, same tool, two different opening moves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47088"/>
            <a:ext cx="5074920" cy="41148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47088"/>
            <a:ext cx="50292" cy="4114800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066543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WITHOUT A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43230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88"/>
              </a:spcAft>
              <a:defRPr sz="2100" b="1">
                <a:solidFill>
                  <a:srgbClr val="121111"/>
                </a:solidFill>
                <a:latin typeface="Helvetica Neue"/>
              </a:defRPr>
            </a:pPr>
            <a:r>
              <a:t>“Analyse this file.”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10896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Revenue rose 4.3%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8 cities represented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3,079 rows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Q3 shows a dip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Average deal ₹1.8 lakh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" y="5157216"/>
            <a:ext cx="448056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34009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B51D2A"/>
                </a:solidFill>
                <a:latin typeface="Helvetica Neue"/>
              </a:defRPr>
            </a:pPr>
            <a:r>
              <a:t>All of it true. None of it usable.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47088"/>
            <a:ext cx="5074920" cy="4114800"/>
          </a:xfrm>
          <a:prstGeom prst="rect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47088"/>
            <a:ext cx="50292" cy="4114800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066543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WITH A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432304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532"/>
              </a:spcAft>
              <a:defRPr sz="1900" b="1">
                <a:solidFill>
                  <a:srgbClr val="121111"/>
                </a:solidFill>
                <a:latin typeface="Helvetica Neue"/>
              </a:defRPr>
            </a:pPr>
            <a:r>
              <a:t>“Which two cities should lose</a:t>
            </a:r>
          </a:p>
          <a:p>
            <a:pPr algn="l">
              <a:lnSpc>
                <a:spcPct val="122000"/>
              </a:lnSpc>
              <a:spcAft>
                <a:spcPts val="532"/>
              </a:spcAft>
              <a:defRPr sz="1900" b="1">
                <a:solidFill>
                  <a:srgbClr val="121111"/>
                </a:solidFill>
                <a:latin typeface="Helvetica Neue"/>
              </a:defRPr>
            </a:pPr>
            <a:r>
              <a:t>headcount next quarter?”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38328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One table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Revenue per rep, by city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Two cities named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A caveat about deal mix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5157216"/>
            <a:ext cx="448056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534009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0E8F7A"/>
                </a:solidFill>
                <a:latin typeface="Helvetica Neue"/>
              </a:defRPr>
            </a:pPr>
            <a:r>
              <a:t>One question, and the file has a job.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STEP 2 — SHAPE: WHAT DID THE FILE ACTUALLY ARRIVE AS</a:t>
            </a:r>
          </a:p>
        </p:txBody>
      </p:sp>
      <p:pic>
        <p:nvPicPr>
          <p:cNvPr id="6" name="Picture 5" descr="s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4" y="841248"/>
            <a:ext cx="10864086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50"/>
              <a:t>WAR STORY · HT DIGITAL STREAMS  ·  IDENTITY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9264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12"/>
              </a:spcAft>
              <a:defRPr sz="2900" b="1">
                <a:solidFill>
                  <a:srgbClr val="FFFFFF"/>
                </a:solidFill>
                <a:latin typeface="Helvetica Neue"/>
              </a:defRPr>
            </a:pPr>
            <a:r>
              <a:rPr spc="-60"/>
              <a:t>We were counting the same person up to four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Three sites and a set of APIs, each minting its own user ID. Every audience number the business planned against was inflated, and nobody could see it, because each system was internally consistent.</a:t>
            </a:r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The fix was not analytical. It was going back to what one row meant, across four systems that had each quietly decided for themselves.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969264"/>
            <a:ext cx="3246120" cy="2651760"/>
          </a:xfrm>
          <a:prstGeom prst="rect">
            <a:avLst/>
          </a:prstGeom>
          <a:solidFill>
            <a:srgbClr val="33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2440" y="969264"/>
            <a:ext cx="50292" cy="2651760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2984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400"/>
              </a:spcAft>
              <a:defRPr sz="5000" b="1">
                <a:solidFill>
                  <a:srgbClr val="C79A2F"/>
                </a:solidFill>
                <a:latin typeface="Helvetica Neue"/>
              </a:defRPr>
            </a:pPr>
            <a:r>
              <a:rPr spc="-160"/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30428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  <a:defRPr sz="1250" b="0">
                <a:solidFill>
                  <a:srgbClr val="B0A9A2"/>
                </a:solidFill>
                <a:latin typeface="Helvetica Neue"/>
              </a:defRPr>
            </a:pPr>
            <a:r>
              <a:t>of duplicate IDs eliminated once the grain was defined once, centrally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138928"/>
            <a:ext cx="1463040" cy="36576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476"/>
              </a:spcAft>
              <a:defRPr sz="1700" b="1">
                <a:solidFill>
                  <a:srgbClr val="FFFFFF"/>
                </a:solidFill>
                <a:latin typeface="Helvetica Neue"/>
              </a:defRPr>
            </a:pPr>
            <a:r>
              <a:t>Step 2 exists because “what is one row?” is the question that was never asked.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2819"/>
            <a:ext cx="10561320" cy="1823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120"/>
              </a:spcAft>
              <a:defRPr sz="40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Spend the first two minutes</a:t>
            </a:r>
          </a:p>
          <a:p>
            <a:pPr algn="l">
              <a:lnSpc>
                <a:spcPct val="120000"/>
              </a:lnSpc>
              <a:spcAft>
                <a:spcPts val="1120"/>
              </a:spcAft>
              <a:defRPr sz="40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on what the file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002532"/>
            <a:ext cx="1371600" cy="3200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4942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04"/>
              </a:spcAft>
              <a:defRPr sz="1800" b="0">
                <a:solidFill>
                  <a:srgbClr val="5F5D5C"/>
                </a:solidFill>
                <a:latin typeface="Helvetica Neue"/>
              </a:defRPr>
            </a:pPr>
            <a:r>
              <a:t>Somebody filtered it, named the columns and decided what to leave out before it reached you. Those decisions are now your assumptions, whether you look at them or not.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60"/>
              <a:t>MODULE 2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Eight Lenses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Almost every question you will be handed is one of these eight.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Naming the lens tells you the cut, the chart, and the trap to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LENSES 1 TO 8  ·  40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Eight Lenses, on one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The reference artefact for this module. Photograph this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2344" y="1755648"/>
            <a:ext cx="3099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8464" y="175564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3376" y="175564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048255"/>
            <a:ext cx="10469880" cy="16459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1 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2194560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How does this stack up against that?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2194560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Total by dimension, sorted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2194560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Counts where rates belong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583179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2 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2344" y="2692908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Who is on top, who is at the bottom?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692908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Sort both ends, not just the 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692908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A top-10 list with no bottom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081527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191256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3 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2344" y="3191256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What changed, and when exactly?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191256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Index to a common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3191256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Two scales on one chart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579875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689603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4  Composition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2344" y="3689603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What makes up the whole?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98464" y="3689603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Share of total, by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376" y="3689603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Mix shift read as 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07822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187951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5 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52344" y="4187951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What does a typical one look like?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8464" y="4187951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Histogram, plus the median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4187951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The mean quoted as typical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576572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686299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6  Correlation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52344" y="4686299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Do these move together?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8464" y="4686299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Scatter, then a coefficient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4686299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Correlation stated as cause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5074920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184647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7  Outliers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52344" y="5184647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What looks wrong?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98464" y="5184647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Flag against the median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3376" y="5184647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Concentration read as a trend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5732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682995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8  Decomposition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52344" y="5682995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Why did the number move?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98464" y="5682995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Bridge that sums to the 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23376" y="5682995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A residual nobody names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607161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LENS 1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E01E29"/>
                </a:solidFill>
                <a:latin typeface="Helvetica Neue"/>
              </a:defRPr>
            </a:pPr>
            <a:r>
              <a:rPr spc="-20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87168"/>
            <a:ext cx="50292" cy="213969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How does this one stack up against that one?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2487168"/>
            <a:ext cx="50292" cy="2139696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Which city bills the most ad revenue?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487168"/>
            <a:ext cx="3319272" cy="2139696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2487168"/>
            <a:ext cx="50292" cy="2139696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Mumbai is biggest at everything. Biggest is not the same as best.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8A857F"/>
                </a:solidFill>
                <a:latin typeface="Helvetica Neue"/>
              </a:defRPr>
            </a:pPr>
            <a:r>
              <a:t>Next: the same lens run on 2,490 confirmed bookings.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LENS 1 · COMPARISON</a:t>
            </a:r>
          </a:p>
        </p:txBody>
      </p:sp>
      <p:pic>
        <p:nvPicPr>
          <p:cNvPr id="6" name="Picture 5" descr="t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650" y="841248"/>
            <a:ext cx="8318395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7044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Sorted, one colour on the point, numbers on the bars. You will reach for this shape more than any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035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00"/>
              </a:spcAft>
              <a:defRPr sz="25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prompt behind Lens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50"/>
              </a:spcAft>
              <a:defRPr sz="1250" b="0">
                <a:solidFill>
                  <a:srgbClr val="8A857F"/>
                </a:solidFill>
                <a:latin typeface="Helvetica Neue"/>
              </a:defRPr>
            </a:pPr>
            <a:r>
              <a:t>Paste this, do not type it. The wording is the lesson.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64208"/>
            <a:ext cx="6720840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82880" tIns="237744" bIns="109728"/>
          <a:lstStyle/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Using the code interpreter on ad-sales-data.csv: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Filter to status = Confirmed and drop rows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where net_amount is blank. Tell me how many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rows you dropped.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The city column has spelling variants. Show me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the mapping you intend to apply before you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apply it.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Then total net_amount by city, sorted high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to low. Give me the gap between top and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bottom as a multiple, not just two numbers.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Return a horizontal bar chart, sorted, one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accent colour, values on the bars, titled with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the finding as a sentence.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7" y="1664208"/>
            <a:ext cx="3456432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82127" y="1664208"/>
            <a:ext cx="50292" cy="444398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WHAT COMES BACK</a:t>
            </a:r>
          </a:p>
        </p:txBody>
      </p:sp>
      <p:sp>
        <p:nvSpPr>
          <p:cNvPr id="11" name="Oval 10"/>
          <p:cNvSpPr/>
          <p:nvPr/>
        </p:nvSpPr>
        <p:spPr>
          <a:xfrm>
            <a:off x="8183879" y="2423160"/>
            <a:ext cx="91440" cy="91440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340864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A sorted bar chart, titled with the finding</a:t>
            </a:r>
          </a:p>
        </p:txBody>
      </p:sp>
      <p:sp>
        <p:nvSpPr>
          <p:cNvPr id="13" name="Oval 12"/>
          <p:cNvSpPr/>
          <p:nvPr/>
        </p:nvSpPr>
        <p:spPr>
          <a:xfrm>
            <a:off x="8183879" y="3209544"/>
            <a:ext cx="91440" cy="91440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312724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A cleaning log: 13 city strings collapsed to 8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3995928"/>
            <a:ext cx="91440" cy="91440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391363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The row count it dropped, stated up front</a:t>
            </a:r>
          </a:p>
        </p:txBody>
      </p:sp>
      <p:sp>
        <p:nvSpPr>
          <p:cNvPr id="17" name="Oval 16"/>
          <p:cNvSpPr/>
          <p:nvPr/>
        </p:nvSpPr>
        <p:spPr>
          <a:xfrm>
            <a:off x="8183879" y="4782312"/>
            <a:ext cx="91440" cy="91440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4700016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The gap as “2.1×”, not as two raw numbers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LENS 2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0E8F7A"/>
                </a:solidFill>
                <a:latin typeface="Helvetica Neue"/>
              </a:defRPr>
            </a:pPr>
            <a:r>
              <a:rPr spc="-20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RANKING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87168"/>
            <a:ext cx="50292" cy="2139696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Who is on top, and who is at the bottom?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2487168"/>
            <a:ext cx="50292" cy="2139696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Which reps carry the business, and which coast?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487168"/>
            <a:ext cx="3319272" cy="2139696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2487168"/>
            <a:ext cx="50292" cy="2139696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A top-10 list flatters. The bottom is where the recoverable money sits.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8A857F"/>
                </a:solidFill>
                <a:latin typeface="Helvetica Neue"/>
              </a:defRPr>
            </a:pPr>
            <a:r>
              <a:t>Next: the same lens run on 2,490 confirmed bookings.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LENS 2 · RANKING</a:t>
            </a:r>
          </a:p>
        </p:txBody>
      </p:sp>
      <p:pic>
        <p:nvPicPr>
          <p:cNvPr id="6" name="Picture 5" descr="t2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133" y="841248"/>
            <a:ext cx="7491427" cy="4919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98017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Show both ends. A top-5 on its own hides the gap you can actually do something about.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LENS 3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C79A2F"/>
                </a:solidFill>
                <a:latin typeface="Helvetica Neue"/>
              </a:defRPr>
            </a:pPr>
            <a:r>
              <a:rPr spc="-200"/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TREND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87168"/>
            <a:ext cx="50292" cy="2139696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C79A2F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What changed over time, and when exactly?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2487168"/>
            <a:ext cx="50292" cy="2139696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Is digital really growing, or does it just feel that way?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487168"/>
            <a:ext cx="3319272" cy="2139696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2487168"/>
            <a:ext cx="50292" cy="2139696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Raw lines let the biggest series bury every other story.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8A857F"/>
                </a:solidFill>
                <a:latin typeface="Helvetica Neue"/>
              </a:defRPr>
            </a:pPr>
            <a:r>
              <a:t>Next: the same lens run on 2,490 confirmed bookings.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LENS 3 · TREND</a:t>
            </a:r>
          </a:p>
        </p:txBody>
      </p:sp>
      <p:pic>
        <p:nvPicPr>
          <p:cNvPr id="6" name="Picture 5" descr="t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96" y="841248"/>
            <a:ext cx="7210102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7044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Indexed to 2022 = 100. When one series is 40× another, plotting raw values shows you the big line and nothing else.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LENS 4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4E79CF"/>
                </a:solidFill>
                <a:latin typeface="Helvetica Neue"/>
              </a:defRPr>
            </a:pPr>
            <a:r>
              <a:rPr spc="-20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87168"/>
            <a:ext cx="50292" cy="2139696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What makes up the total, and is the mix moving?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2487168"/>
            <a:ext cx="50292" cy="2139696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Print is shrinking. By how much, and into what?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487168"/>
            <a:ext cx="3319272" cy="2139696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2487168"/>
            <a:ext cx="50292" cy="2139696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Volume can rise while revenue stalls. That is mix, not performance.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8A857F"/>
                </a:solidFill>
                <a:latin typeface="Helvetica Neue"/>
              </a:defRPr>
            </a:pPr>
            <a:r>
              <a:t>Next: the same lens run on 2,490 confirmed bookings.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LENS 4 · COMPOSITION</a:t>
            </a:r>
          </a:p>
        </p:txBody>
      </p:sp>
      <p:pic>
        <p:nvPicPr>
          <p:cNvPr id="6" name="Picture 5" descr="t4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488" y="841248"/>
            <a:ext cx="6820717" cy="4919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98017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Mix shift lives here. More of what sold was the cheap thing, so pages went up and money did not.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LENS 5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E01E29"/>
                </a:solidFill>
                <a:latin typeface="Helvetica Neue"/>
              </a:defRPr>
            </a:pPr>
            <a:r>
              <a:rPr spc="-200"/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87168"/>
            <a:ext cx="50292" cy="213969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What does a typical one actually look like?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2487168"/>
            <a:ext cx="50292" cy="2139696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What is a normal deal size 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487168"/>
            <a:ext cx="3319272" cy="2139696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2487168"/>
            <a:ext cx="50292" cy="2139696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A handful of whales drag the average away from reality.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8A857F"/>
                </a:solidFill>
                <a:latin typeface="Helvetica Neue"/>
              </a:defRPr>
            </a:pPr>
            <a:r>
              <a:t>Next: the same lens run on 2,490 confirmed bookings.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LENS 5 · DISTRIBUTION</a:t>
            </a:r>
          </a:p>
        </p:txBody>
      </p:sp>
      <p:pic>
        <p:nvPicPr>
          <p:cNvPr id="6" name="Picture 5" descr="t5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856" y="841248"/>
            <a:ext cx="7597982" cy="4919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98017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Mean ₹1.80L, median ₹0.79L. Call the mean “typical” in a meeting and you are overstating by 2.3×.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LENS 6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0E8F7A"/>
                </a:solidFill>
                <a:latin typeface="Helvetica Neue"/>
              </a:defRPr>
            </a:pPr>
            <a:r>
              <a:rPr spc="-20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CORRELATION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87168"/>
            <a:ext cx="50292" cy="2139696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Do these two things move together?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2487168"/>
            <a:ext cx="50292" cy="2139696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Do bigger discounts actually win bigger deals?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487168"/>
            <a:ext cx="3319272" cy="2139696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2487168"/>
            <a:ext cx="50292" cy="2139696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Two things moving together is not one causing the other.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8A857F"/>
                </a:solidFill>
                <a:latin typeface="Helvetica Neue"/>
              </a:defRPr>
            </a:pPr>
            <a:r>
              <a:t>Next: the same lens run on 2,490 confirmed bookings.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LENS 6 · CORRELATION</a:t>
            </a:r>
          </a:p>
        </p:txBody>
      </p:sp>
      <p:pic>
        <p:nvPicPr>
          <p:cNvPr id="6" name="Picture 5" descr="t6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051" y="841248"/>
            <a:ext cx="6741592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7044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r = −0.05, so there is nothing here. That is still a result, and it is the one that settles a discount argument.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LENS 7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C79A2F"/>
                </a:solidFill>
                <a:latin typeface="Helvetica Neue"/>
              </a:defRPr>
            </a:pPr>
            <a:r>
              <a:rPr spc="-200"/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OUTLIERS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87168"/>
            <a:ext cx="50292" cy="2139696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C79A2F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What looks wrong, and is it real or a data error?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2487168"/>
            <a:ext cx="50292" cy="2139696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Are a handful of deals carrying the whole year?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487168"/>
            <a:ext cx="3319272" cy="2139696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2487168"/>
            <a:ext cx="50292" cy="2139696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A few large deals can manufacture a trend that does not exist.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8A857F"/>
                </a:solidFill>
                <a:latin typeface="Helvetica Neue"/>
              </a:defRPr>
            </a:pPr>
            <a:r>
              <a:t>Next: the same lens run on 2,490 confirmed bookings.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LENS 7 · OUTLIERS</a:t>
            </a:r>
          </a:p>
        </p:txBody>
      </p:sp>
      <p:pic>
        <p:nvPicPr>
          <p:cNvPr id="6" name="Picture 5" descr="t7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19" y="841248"/>
            <a:ext cx="6992256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7044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80 deals out of 2,490 carry 22% of revenue. Lose two of them and the trend you were describing goes away.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LENS 8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4E79CF"/>
                </a:solidFill>
                <a:latin typeface="Helvetica Neue"/>
              </a:defRPr>
            </a:pPr>
            <a:r>
              <a:rPr spc="-20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DECOMPOSITION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87168"/>
            <a:ext cx="50292" cy="2139696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Why did the number move?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487168"/>
            <a:ext cx="3319272" cy="213969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2487168"/>
            <a:ext cx="50292" cy="2139696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Revenue grew 21%. More deals, or bigger ones?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487168"/>
            <a:ext cx="3319272" cy="2139696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2487168"/>
            <a:ext cx="50292" cy="2139696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70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550" b="0">
                <a:solidFill>
                  <a:srgbClr val="121111"/>
                </a:solidFill>
                <a:latin typeface="Helvetica Neue"/>
              </a:defRPr>
            </a:pPr>
            <a:r>
              <a:t>“It went up” is not a driver. Parts that do not sum are not an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8A857F"/>
                </a:solidFill>
                <a:latin typeface="Helvetica Neue"/>
              </a:defRPr>
            </a:pPr>
            <a:r>
              <a:t>Next: the same lens run on 2,490 confirmed bookings.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LENS 8 · DECOMPOSITION</a:t>
            </a:r>
          </a:p>
        </p:txBody>
      </p:sp>
      <p:pic>
        <p:nvPicPr>
          <p:cNvPr id="6" name="Picture 5" descr="t8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681" y="841248"/>
            <a:ext cx="6350331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7044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The parts have to sum to the whole. An unexplained residual means you do not understand the movement yet.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035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00"/>
              </a:spcAft>
              <a:defRPr sz="25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prompt behind Lens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50"/>
              </a:spcAft>
              <a:defRPr sz="1250" b="0">
                <a:solidFill>
                  <a:srgbClr val="8A857F"/>
                </a:solidFill>
                <a:latin typeface="Helvetica Neue"/>
              </a:defRPr>
            </a:pPr>
            <a:r>
              <a:t>Paste this, do not type it. The wording is the lesson.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64208"/>
            <a:ext cx="6720840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82880" tIns="237744" bIns="109728"/>
          <a:lstStyle/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Net revenue moved from ₹12.81 Cr in 2023 to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₹15.54 Cr in 2024. Find out why, with code.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1  Confirm the total change, absolute and %.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2  Split it into two effects: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     volume    = (orders24 − orders23) × avg23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     deal size = (avg24 − avg23) × orders24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3  The two must sum to the total change.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   Print the reconciliation and the residual.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   If the residual is not about zero, stop and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   tell me what is unexplained.</a:t>
            </a: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</a:p>
          <a:p>
            <a:pPr algn="l">
              <a:lnSpc>
                <a:spcPct val="134000"/>
              </a:lnSpc>
              <a:defRPr sz="1150">
                <a:solidFill>
                  <a:srgbClr val="4A4847"/>
                </a:solidFill>
                <a:latin typeface="Courier New"/>
              </a:defRPr>
            </a:pPr>
            <a:r>
              <a:t>4  Label every driver OBSERVED or INFERRED.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7" y="1664208"/>
            <a:ext cx="3456432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82127" y="1664208"/>
            <a:ext cx="50292" cy="4443984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WHAT COMES BACK</a:t>
            </a:r>
          </a:p>
        </p:txBody>
      </p:sp>
      <p:sp>
        <p:nvSpPr>
          <p:cNvPr id="11" name="Oval 10"/>
          <p:cNvSpPr/>
          <p:nvPr/>
        </p:nvSpPr>
        <p:spPr>
          <a:xfrm>
            <a:off x="8183879" y="2423160"/>
            <a:ext cx="91440" cy="91440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340864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A bridge where the parts tie to the total</a:t>
            </a:r>
          </a:p>
        </p:txBody>
      </p:sp>
      <p:sp>
        <p:nvSpPr>
          <p:cNvPr id="13" name="Oval 12"/>
          <p:cNvSpPr/>
          <p:nvPr/>
        </p:nvSpPr>
        <p:spPr>
          <a:xfrm>
            <a:off x="8183879" y="3209544"/>
            <a:ext cx="91440" cy="91440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312724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20% from more orders, 80% from bigger ones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3995928"/>
            <a:ext cx="91440" cy="91440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391363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The residual, printed, at about zero</a:t>
            </a:r>
          </a:p>
        </p:txBody>
      </p:sp>
      <p:sp>
        <p:nvSpPr>
          <p:cNvPr id="17" name="Oval 16"/>
          <p:cNvSpPr/>
          <p:nvPr/>
        </p:nvSpPr>
        <p:spPr>
          <a:xfrm>
            <a:off x="8183879" y="4782312"/>
            <a:ext cx="91440" cy="91440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4700016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An honest label on anything it assumed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50"/>
              <a:t>WAR STORY · HT DIGITAL STREAMS  ·  CONTEXTUAL TARGETING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9264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12"/>
              </a:spcAft>
              <a:defRPr sz="2900" b="1">
                <a:solidFill>
                  <a:srgbClr val="FFFFFF"/>
                </a:solidFill>
                <a:latin typeface="Helvetica Neue"/>
              </a:defRPr>
            </a:pPr>
            <a:r>
              <a:rPr spc="-60"/>
              <a:t>The lift was real. The first number we ran was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We moved from broad targeting to in-page semantics with brand-safety controls. The early read looked enormous, because the two groups were not comparable. Different placements, different weeks, different mix.</a:t>
            </a:r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Once it was cut properly against a like-for-like baseline, the gain held up. Smaller than the first number, and defensible in front of a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969264"/>
            <a:ext cx="3246120" cy="2651760"/>
          </a:xfrm>
          <a:prstGeom prst="rect">
            <a:avLst/>
          </a:prstGeom>
          <a:solidFill>
            <a:srgbClr val="33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2440" y="969264"/>
            <a:ext cx="50292" cy="2651760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2984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400"/>
              </a:spcAft>
              <a:defRPr sz="5000" b="1">
                <a:solidFill>
                  <a:srgbClr val="C79A2F"/>
                </a:solidFill>
                <a:latin typeface="Helvetica Neue"/>
              </a:defRPr>
            </a:pPr>
            <a:r>
              <a:rPr spc="-160"/>
              <a:t>+25%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30428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  <a:defRPr sz="1250" b="0">
                <a:solidFill>
                  <a:srgbClr val="B0A9A2"/>
                </a:solidFill>
                <a:latin typeface="Helvetica Neue"/>
              </a:defRPr>
            </a:pPr>
            <a:r>
              <a:t>CTR and conversion against vanilla targeting, on a like-for-like cut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138928"/>
            <a:ext cx="1463040" cy="36576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476"/>
              </a:spcAft>
              <a:defRPr sz="1700" b="1">
                <a:solidFill>
                  <a:srgbClr val="FFFFFF"/>
                </a:solidFill>
                <a:latin typeface="Helvetica Neue"/>
              </a:defRPr>
            </a:pPr>
            <a:r>
              <a:t>Lens 1 is the whole discipline: a number means nothing until you name what it is compared 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8F0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2819"/>
            <a:ext cx="10561320" cy="1823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120"/>
              </a:spcAft>
              <a:defRPr sz="40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Most people stop at</a:t>
            </a:r>
          </a:p>
          <a:p>
            <a:pPr algn="l">
              <a:lnSpc>
                <a:spcPct val="120000"/>
              </a:lnSpc>
              <a:spcAft>
                <a:spcPts val="1120"/>
              </a:spcAft>
              <a:defRPr sz="40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“revenue went up.”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002532"/>
            <a:ext cx="1371600" cy="32004"/>
          </a:xfrm>
          <a:prstGeom prst="rect">
            <a:avLst/>
          </a:prstGeom>
          <a:solidFill>
            <a:srgbClr val="8F0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4942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04"/>
              </a:spcAft>
              <a:defRPr sz="1800" b="0">
                <a:solidFill>
                  <a:srgbClr val="5F5D5C"/>
                </a:solidFill>
                <a:latin typeface="Helvetica Neue"/>
              </a:defRPr>
            </a:pPr>
            <a:r>
              <a:t>Lenses 6 to 8 are the ones that get skipped, and the ones that get you invited back into the room.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66928"/>
            <a:ext cx="2331720" cy="38404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6217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rPr spc="90"/>
              <a:t>HANDS-ON · 12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48132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Open ad-sales-data.csv in Aurex.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09344"/>
            <a:ext cx="201168" cy="201168"/>
          </a:xfrm>
          <a:prstGeom prst="ellipse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26771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Pick any two lenses and run them properly.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95728"/>
            <a:ext cx="201168" cy="201168"/>
          </a:xfrm>
          <a:prstGeom prst="ellipse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05409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Write down which trap you checked for.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182112"/>
            <a:ext cx="201168" cy="201168"/>
          </a:xfrm>
          <a:prstGeom prst="ellipse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224528"/>
            <a:ext cx="10469880" cy="32004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9884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32"/>
              </a:spcAft>
              <a:defRPr sz="1900" b="1">
                <a:solidFill>
                  <a:srgbClr val="0A6B5B"/>
                </a:solidFill>
                <a:latin typeface="Helvetica Neue"/>
              </a:defRPr>
            </a:pPr>
            <a:r>
              <a:t>Post in chat:  “The one thing that surprised you most”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3   ·   THE CHART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60"/>
              <a:t>MODULE 3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Chart Selector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Nine comparisons, nine answers. Name the comparison out loud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and the chart stops being a matter of taste.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C79A2F"/>
                </a:solidFill>
                <a:latin typeface="Helvetica Neue"/>
              </a:defRPr>
            </a:pPr>
            <a:r>
              <a:rPr spc="110"/>
              <a:t>15 MINUTES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3   ·   THE CHART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THE SELECTOR</a:t>
            </a:r>
          </a:p>
        </p:txBody>
      </p:sp>
      <p:pic>
        <p:nvPicPr>
          <p:cNvPr id="6" name="Picture 5" descr="d_char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559" y="841248"/>
            <a:ext cx="9526575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3   ·   THE CHART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THE SAME NUMBERS, TWICE</a:t>
            </a:r>
          </a:p>
        </p:txBody>
      </p:sp>
      <p:pic>
        <p:nvPicPr>
          <p:cNvPr id="6" name="Picture 5" descr="d_wrong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841248"/>
            <a:ext cx="11155680" cy="446341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3   ·   THE CHART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Three rules that fix almost every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Then point at anything still on the chart and ask what it proves. If it does not support the title, take it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697480"/>
            <a:ext cx="402336" cy="402336"/>
          </a:xfrm>
          <a:prstGeom prst="ellipse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60604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Put the finding in the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9535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“Display is 63% of revenue”, never “Revenue by Ad Type”.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630168"/>
            <a:ext cx="402336" cy="402336"/>
          </a:xfrm>
          <a:prstGeom prst="ellipse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53872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One colour carries the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8862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Everything else goes grey. Colour is an argument, not decoration.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562856"/>
            <a:ext cx="402336" cy="402336"/>
          </a:xfrm>
          <a:prstGeom prst="ellipse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47141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Label the bars, delete the furniture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81888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Legend, gridlines, border, markers. All of it competes with the data.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40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60"/>
              <a:t>MODULE 4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Six Distortions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No formulas. Six ways a technically correct number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ends up telling a room the wrong 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20 MINUTES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DISTORTION 1 — COUNTS WHERE RATES BELONG</a:t>
            </a:r>
          </a:p>
        </p:txBody>
      </p:sp>
      <p:pic>
        <p:nvPicPr>
          <p:cNvPr id="6" name="Picture 5" descr="s_rate_v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841248"/>
            <a:ext cx="11155680" cy="436822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62351"/>
            <a:ext cx="10561320" cy="1184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88"/>
              </a:spcAft>
              <a:defRPr sz="46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Always ask “per what?”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83000"/>
            <a:ext cx="1371600" cy="32004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29887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04"/>
              </a:spcAft>
              <a:defRPr sz="1800" b="0">
                <a:solidFill>
                  <a:srgbClr val="5F5D5C"/>
                </a:solidFill>
                <a:latin typeface="Helvetica Neue"/>
              </a:defRPr>
            </a:pPr>
            <a:r>
              <a:t>Counts reward whoever is biggest. Divide by something and you find out who is actually good at it. Per order, per rep, per rupee spent, per head.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DISTORTION 2 — THE MEAN QUOTED AS TYPICAL</a:t>
            </a:r>
          </a:p>
        </p:txBody>
      </p:sp>
      <p:pic>
        <p:nvPicPr>
          <p:cNvPr id="6" name="Picture 5" descr="t5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299" y="841248"/>
            <a:ext cx="8417095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Mean, median, and the gap between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Read the gap before you quote either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606039" y="1755648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79" y="1755648"/>
            <a:ext cx="4379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WHEN TO USE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048255"/>
            <a:ext cx="10469880" cy="16459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157276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194560"/>
            <a:ext cx="4041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Add everything up, divide by the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2194560"/>
            <a:ext cx="43616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Values cluster together with no long 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871215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80944"/>
            <a:ext cx="157276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Median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39" y="2980944"/>
            <a:ext cx="4041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Line them up, take the one in the middle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2980944"/>
            <a:ext cx="43616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A few large values are pulling the average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657599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67327"/>
            <a:ext cx="157276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39" y="3767327"/>
            <a:ext cx="4041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₹1.80L mean against ₹0.79L 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3767327"/>
            <a:ext cx="43616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At 2.3× apart, quoting the mean overstates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443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DISTORTION 3 — CALENDAR READ AS PERFORMANCE</a:t>
            </a:r>
          </a:p>
        </p:txBody>
      </p:sp>
      <p:pic>
        <p:nvPicPr>
          <p:cNvPr id="6" name="Picture 5" descr="s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22" y="841248"/>
            <a:ext cx="8916650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Which growth comparison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This file swings threefold between July and October, so a month-on-month number here is mostly calendar.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697480"/>
            <a:ext cx="402336" cy="402336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60604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Year on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9535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This January against last January. Cancels seasonality. Your default.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630168"/>
            <a:ext cx="402336" cy="402336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53872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Month on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8862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Fast signal, very noisy. Never multiply it by 12 to get an annual rate.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562856"/>
            <a:ext cx="402336" cy="402336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47141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A part-finished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81888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Exclude it, or put the day count right next to the number.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DISTORTION 4 — PERCENTAGES ON TINY SAMPLES</a:t>
            </a:r>
          </a:p>
        </p:txBody>
      </p:sp>
      <p:pic>
        <p:nvPicPr>
          <p:cNvPr id="6" name="Picture 5" descr="s_small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81" y="841248"/>
            <a:ext cx="9413332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Distortion 5 — correlation reported as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Two series moving together is the beginning of the work, not the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728"/>
              </a:spcAft>
              <a:defRPr sz="26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Ice cream sales and drowning deaths rise together.</a:t>
            </a:r>
          </a:p>
          <a:p>
            <a:pPr algn="l">
              <a:lnSpc>
                <a:spcPct val="126000"/>
              </a:lnSpc>
              <a:spcAft>
                <a:spcPts val="728"/>
              </a:spcAft>
              <a:defRPr sz="26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Summer drives both.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328415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47872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SO WHEN YOU FIND A 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121111"/>
                </a:solidFill>
                <a:latin typeface="Helvetica Neue"/>
              </a:defRPr>
            </a:pPr>
            <a:r>
              <a:t>Ask what else changed in the same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Campaigns, pricing, seasonality, a tracking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64608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121111"/>
                </a:solidFill>
                <a:latin typeface="Helvetica Neue"/>
              </a:defRPr>
            </a:pPr>
            <a:r>
              <a:t>Say out loud whether you observed it or inferred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Two words. It changes how the room treats the claim.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79008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121111"/>
                </a:solidFill>
                <a:latin typeface="Helvetica Neue"/>
              </a:defRPr>
            </a:pPr>
            <a:r>
              <a:t>Go looking for the third thing driving 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264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That is usually where the actual explanation is.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49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50"/>
              <a:t>WAR STORY · HT DIGITAL STREAMS  ·  PLATFORM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9264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12"/>
              </a:spcAft>
              <a:defRPr sz="2900" b="1">
                <a:solidFill>
                  <a:srgbClr val="FFFFFF"/>
                </a:solidFill>
                <a:latin typeface="Helvetica Neue"/>
              </a:defRPr>
            </a:pPr>
            <a:r>
              <a:rPr spc="-60"/>
              <a:t>Three tools, three versions of the same 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Mixpanel, Redshift and Elasticsearch each held a version of the truth, and teams quoted whichever one they had access to. Meetings were spent reconciling numbers rather than deciding anything.</a:t>
            </a:r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Consolidating onto one modelled layer with agreed definitions took most of six months. The reporting improvement was almost a side effect.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969264"/>
            <a:ext cx="3246120" cy="2651760"/>
          </a:xfrm>
          <a:prstGeom prst="rect">
            <a:avLst/>
          </a:prstGeom>
          <a:solidFill>
            <a:srgbClr val="33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2440" y="969264"/>
            <a:ext cx="50292" cy="2651760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2984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400"/>
              </a:spcAft>
              <a:defRPr sz="5000" b="1">
                <a:solidFill>
                  <a:srgbClr val="C79A2F"/>
                </a:solidFill>
                <a:latin typeface="Helvetica Neue"/>
              </a:defRPr>
            </a:pPr>
            <a:r>
              <a:rPr spc="-160"/>
              <a:t>₹2.5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30428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  <a:defRPr sz="1250" b="0">
                <a:solidFill>
                  <a:srgbClr val="B0A9A2"/>
                </a:solidFill>
                <a:latin typeface="Helvetica Neue"/>
              </a:defRPr>
            </a:pPr>
            <a:r>
              <a:t>a year in run-rate savings once the duplicate stack was retired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138928"/>
            <a:ext cx="1463040" cy="36576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476"/>
              </a:spcAft>
              <a:defRPr sz="1700" b="1">
                <a:solidFill>
                  <a:srgbClr val="FFFFFF"/>
                </a:solidFill>
                <a:latin typeface="Helvetica Neue"/>
              </a:defRPr>
            </a:pPr>
            <a:r>
              <a:t>Distortion 6 is the undefined metric. It is the cheapest one to fix and the one nobody owns.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5   ·   THE FIVE-CHECK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B51D2A"/>
                </a:solidFill>
                <a:latin typeface="Helvetica Neue"/>
              </a:defRPr>
            </a:pPr>
            <a:r>
              <a:rPr spc="160"/>
              <a:t>MODULE 5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Five-Check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Aurex will run your code perfectly and still answer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the wrong question. This is the gate before you send.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15 MINUTES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5   ·   THE FIVE-CHECK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51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A groupby on the wrong column runs perfectly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Nothing in the output tells you the column was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83664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04"/>
              </a:spcAft>
              <a:defRPr sz="1800" b="0">
                <a:solidFill>
                  <a:srgbClr val="5F5D5C"/>
                </a:solidFill>
                <a:latin typeface="Helvetica Neue"/>
              </a:defRPr>
            </a:pPr>
            <a:r>
              <a:t>You get a clean table, a tidy chart and a confident summary. The failure mode moved from arithmetic to 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MEASURED ACCURACY ON REAL SPREADSHEETS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64991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364991"/>
            <a:ext cx="50292" cy="969264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4930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Looking things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0E8F7A"/>
                </a:solidFill>
                <a:latin typeface="Helvetica Neue"/>
              </a:defRPr>
            </a:pPr>
            <a:r>
              <a:rPr spc="-50"/>
              <a:t>89%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364991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364991"/>
            <a:ext cx="50292" cy="969264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4930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Filtering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0E8F7A"/>
                </a:solidFill>
                <a:latin typeface="Helvetica Neue"/>
              </a:defRPr>
            </a:pPr>
            <a:r>
              <a:rPr spc="-50"/>
              <a:t>71%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364991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3364991"/>
            <a:ext cx="50292" cy="969264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34930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Adding things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C79A2F"/>
                </a:solidFill>
                <a:latin typeface="Helvetica Neue"/>
              </a:defRPr>
            </a:pPr>
            <a:r>
              <a:rPr spc="-50"/>
              <a:t>54%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535424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535424"/>
            <a:ext cx="50292" cy="96926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46634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499262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E01E29"/>
                </a:solidFill>
                <a:latin typeface="Helvetica Neue"/>
              </a:defRPr>
            </a:pPr>
            <a:r>
              <a:rPr spc="-50"/>
              <a:t>42%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535424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535424"/>
            <a:ext cx="50292" cy="96926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6634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Sorting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99262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E01E29"/>
                </a:solidFill>
                <a:latin typeface="Helvetica Neue"/>
              </a:defRPr>
            </a:pPr>
            <a:r>
              <a:rPr spc="-50"/>
              <a:t>38%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4535424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4535424"/>
            <a:ext cx="50292" cy="96926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2" y="46634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Medians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99262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E01E29"/>
                </a:solidFill>
                <a:latin typeface="Helvetica Neue"/>
              </a:defRPr>
            </a:pPr>
            <a:r>
              <a:rPr spc="-50"/>
              <a:t>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90702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B51D2A"/>
                </a:solidFill>
                <a:latin typeface="Helvetica Neue"/>
              </a:defRPr>
            </a:pPr>
            <a:r>
              <a:t>Lookups come back right. Anything that needs arithmetic across rows, check it yourself.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5   ·   THE FIVE-CHECK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52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Five-Check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94% of working spreadsheets already carry a human error. The bar here is checkability, not perfection.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874519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783079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Row accounting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130551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Ask how many rows it used, then compare that to how many are in the file.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763316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67187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Spot-verify the headline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01934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Pick the number that matters most and check that one against the source.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652113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3560673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Ask it a second 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3908145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Different phrasing, same question. Two answers means you have none.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540910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444947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Open what it made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479694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Look at the axis. Read the labels. Generated files look finished early.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5429707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5338267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Sign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5685739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Would you put your name on this? You are about to.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5   ·   THE FIVE-CHECK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53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66928"/>
            <a:ext cx="2331720" cy="38404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6217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rPr spc="90"/>
              <a:t>HANDS-ON ·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48132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Take the finding you produced earlier.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09344"/>
            <a:ext cx="201168" cy="201168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26771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Run all five checks against it.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95728"/>
            <a:ext cx="201168" cy="201168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05409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Rewrite it as one sentence your manager could act 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182112"/>
            <a:ext cx="201168" cy="201168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224528"/>
            <a:ext cx="10469880" cy="3200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9884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32"/>
              </a:spcAft>
              <a:defRPr sz="1900" b="1">
                <a:solidFill>
                  <a:srgbClr val="0A6B5B"/>
                </a:solidFill>
                <a:latin typeface="Helvetica Neue"/>
              </a:defRPr>
            </a:pPr>
            <a:r>
              <a:t>Post in chat:  “Your one sentence”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five cards you are leaving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Each one works on any file, in any tool, in any department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47088"/>
            <a:ext cx="50292" cy="84124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299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4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SEVEN-STEP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02996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Context · Shape · Total · Break down · Compare · Drivers · Validate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98064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798064"/>
            <a:ext cx="50292" cy="84124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809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0E8F7A"/>
                </a:solidFill>
                <a:latin typeface="Helvetica Neue"/>
              </a:defRPr>
            </a:pPr>
            <a:r>
              <a:rPr spc="-4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EIGHT LENSES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98094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Comparison · Ranking · Trend · Composition · Distribution · Correlation · Outliers · Decomposition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749039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749039"/>
            <a:ext cx="50292" cy="84124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C79A2F"/>
                </a:solidFill>
                <a:latin typeface="Helvetica Neue"/>
              </a:defRPr>
            </a:pPr>
            <a:r>
              <a:rPr spc="-40"/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8953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CHART 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9319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Name the comparison, take the chart it gives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700016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700016"/>
            <a:ext cx="50292" cy="84124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882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4E79CF"/>
                </a:solidFill>
                <a:latin typeface="Helvetica Neue"/>
              </a:defRPr>
            </a:pPr>
            <a:r>
              <a:rPr spc="-40"/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SIX DISTORTIONS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882896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Rates · Mean · Calendar · Sample size · Cause · Definitions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650992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650992"/>
            <a:ext cx="50292" cy="84124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8338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B51D2A"/>
                </a:solidFill>
                <a:latin typeface="Helvetica Neue"/>
              </a:defRPr>
            </a:pPr>
            <a:r>
              <a:rPr spc="-40"/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797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FIVE-CHECK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583387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Rows · Headline · Second phrasing · Open the file · Sign it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55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  <a:spcAft>
                <a:spcPts val="644"/>
              </a:spcAft>
              <a:defRPr sz="2300" b="0">
                <a:solidFill>
                  <a:srgbClr val="B0AAA4"/>
                </a:solidFill>
                <a:latin typeface="Helvetica Neue"/>
              </a:defRPr>
            </a:pPr>
            <a:r>
              <a:t>Somebody sends you a spreadsheet you did not build,</a:t>
            </a:r>
          </a:p>
          <a:p>
            <a:pPr algn="l">
              <a:lnSpc>
                <a:spcPct val="142000"/>
              </a:lnSpc>
              <a:spcAft>
                <a:spcPts val="644"/>
              </a:spcAft>
              <a:defRPr sz="2300" b="0">
                <a:solidFill>
                  <a:srgbClr val="B0AAA4"/>
                </a:solidFill>
                <a:latin typeface="Helvetica Neue"/>
              </a:defRPr>
            </a:pPr>
            <a:r>
              <a:t>about a part of the business you half-know,</a:t>
            </a:r>
          </a:p>
          <a:p>
            <a:pPr algn="l">
              <a:lnSpc>
                <a:spcPct val="142000"/>
              </a:lnSpc>
              <a:spcAft>
                <a:spcPts val="644"/>
              </a:spcAft>
              <a:defRPr sz="2300" b="0">
                <a:solidFill>
                  <a:srgbClr val="B0AAA4"/>
                </a:solidFill>
                <a:latin typeface="Helvetica Neue"/>
              </a:defRPr>
            </a:pPr>
            <a:r>
              <a:t>and wants your read on it by tomorrow morning.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13632"/>
            <a:ext cx="1828800" cy="45720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100"/>
              <a:t>You now have a sequence for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583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50"/>
              </a:spcAft>
              <a:defRPr sz="1250" b="0">
                <a:solidFill>
                  <a:srgbClr val="8A857F"/>
                </a:solidFill>
                <a:latin typeface="Helvetica Neue"/>
              </a:defRPr>
            </a:pPr>
            <a:r>
              <a:rPr spc="50"/>
              <a:t>Dishant Singla  ·  Base42 Systems  ·  run on Aurex, inside BCCL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