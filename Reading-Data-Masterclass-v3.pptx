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311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194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By the end of two hours you will open an unfamiliar file and produce a number you would defend.</a:t>
            </a:r>
          </a:p>
          <a:p>
            <a:endParaRPr/>
          </a:p>
          <a:p>
            <a:r>
              <a:t>SAY</a:t>
            </a:r>
          </a:p>
          <a:p>
            <a:r>
              <a:t>  - Do not read the title. Open cold, with the room's own problem: 'Somebody has sent you a spreadsheet you did not build. It is 4pm. They want your read by tomorrow.'</a:t>
            </a:r>
          </a:p>
          <a:p>
            <a:r>
              <a:t>  - Hands up: who has had that in the last month? Wait for the hands. That is your mandate for the next two hours.</a:t>
            </a:r>
          </a:p>
          <a:p>
            <a:r>
              <a:t>  - Say what this is NOT: not an Excel class, not statistics, no formulas to memorise.</a:t>
            </a:r>
          </a:p>
          <a:p>
            <a:r>
              <a:t>  - It is a sequence. Same sequence every time, any file, any department.</a:t>
            </a:r>
          </a:p>
          <a:p>
            <a:r>
              <a:t>  - Logistics in one breath: two hours, two hands-on blocks, laptops open, practice file link in the chat now.</a:t>
            </a:r>
          </a:p>
          <a:p>
            <a:endParaRPr/>
          </a:p>
          <a:p>
            <a:r>
              <a:t>ASK THE ROOM</a:t>
            </a:r>
          </a:p>
          <a:p>
            <a:r>
              <a:t>  "Type in the chat: the last file somebody sent you that you did not build."</a:t>
            </a:r>
          </a:p>
          <a:p>
            <a:endParaRPr/>
          </a:p>
          <a:p>
            <a:r>
              <a:t>~3m  ·  NEXT: Who is running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Credibility, fast. Every trap in this deck was paid for, not read in a book.</a:t>
            </a:r>
          </a:p>
          <a:p>
            <a:endParaRPr/>
          </a:p>
          <a:p>
            <a:r>
              <a:t>SAY</a:t>
            </a:r>
          </a:p>
          <a:p>
            <a:r>
              <a:t>  - Ninety seconds maximum. This slide buys you permission, it is not the show.</a:t>
            </a:r>
          </a:p>
          <a:p>
            <a:r>
              <a:t>  - The line that matters: 'Every trap in this session is one I have shipped, been burned by, or caught in review.'</a:t>
            </a:r>
          </a:p>
          <a:p>
            <a:r>
              <a:t>  - Do not walk the stat panel item by item. Point at it once and move.</a:t>
            </a:r>
          </a:p>
          <a:p>
            <a:r>
              <a:t>  - If the room is senior, name the ₹110 Cr and stop. If the room is analysts, name the identity-resolution work instead.</a:t>
            </a:r>
          </a:p>
          <a:p>
            <a:endParaRPr/>
          </a:p>
          <a:p>
            <a:r>
              <a:t>~2m  ·  NEXT: Why a company pays for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Five cards. Everything today hangs off one of them, and you take all five home.</a:t>
            </a:r>
          </a:p>
          <a:p>
            <a:endParaRPr/>
          </a:p>
          <a:p>
            <a:r>
              <a:t>SAY</a:t>
            </a:r>
          </a:p>
          <a:p>
            <a:r>
              <a:t>  - This is the map. Point at each card for five seconds, no more — you are orienting, not teaching.</a:t>
            </a:r>
          </a:p>
          <a:p>
            <a:r>
              <a:t>  - Stress the promise: reusable on Monday, on any file, in any department.</a:t>
            </a:r>
          </a:p>
          <a:p>
            <a:r>
              <a:t>  - The bottom strip is what they physically leave with: the file, the eight prompts, the gate card.</a:t>
            </a:r>
          </a:p>
          <a:p>
            <a:r>
              <a:t>  - Tell them now that every prompt in this deck is copy-paste and will be shared. It stops people transcribing slides instead of listening.</a:t>
            </a:r>
          </a:p>
          <a:p>
            <a:endParaRPr/>
          </a:p>
          <a:p>
            <a:r>
              <a:t>~2m  ·  NEXT: The practice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One file runs every framework, and it has four faults planted in it on purpose.</a:t>
            </a:r>
          </a:p>
          <a:p>
            <a:endParaRPr/>
          </a:p>
          <a:p>
            <a:r>
              <a:t>SAY</a:t>
            </a:r>
          </a:p>
          <a:p>
            <a:r>
              <a:t>  - Get the file open on their machines now, while you talk. Do not move on until laptops are up.</a:t>
            </a:r>
          </a:p>
          <a:p>
            <a:r>
              <a:t>  - Read the shape out loud: 3,079 rows, 14 columns, three years, 2,490 confirmed.</a:t>
            </a:r>
          </a:p>
          <a:p>
            <a:r>
              <a:t>  - Note the gap: 3,079 rows but 2,490 confirmed. That gap is a decision somebody has to make, and it is Step 1 of the Seven-Step Read.</a:t>
            </a:r>
          </a:p>
          <a:p>
            <a:r>
              <a:t>  - End on the fault line: four planted data-quality faults. Do not tell them what they are. Finding them is Step 2.</a:t>
            </a:r>
          </a:p>
          <a:p>
            <a:endParaRPr/>
          </a:p>
          <a:p>
            <a:r>
              <a:t>ASK THE ROOM</a:t>
            </a:r>
          </a:p>
          <a:p>
            <a:r>
              <a:t>  "Anyone already spotted something odd in the file? Hold it — do not say it yet."</a:t>
            </a:r>
          </a:p>
          <a:p>
            <a:endParaRPr/>
          </a:p>
          <a:p>
            <a:r>
              <a:t>~4m  ·  NEXT: Module 1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Analysts do not start with numbers. They start with the decision.</a:t>
            </a:r>
          </a:p>
          <a:p>
            <a:endParaRPr/>
          </a:p>
          <a:p>
            <a:r>
              <a:t>SAY</a:t>
            </a:r>
          </a:p>
          <a:p>
            <a:r>
              <a:t>  - Divider. Ten seconds. Read the line under the title and move.</a:t>
            </a:r>
          </a:p>
          <a:p>
            <a:r>
              <a:t>  - One framing sentence: 'Everything that goes wrong in Module 4 goes wrong because somebody skipped Module 1.'</a:t>
            </a:r>
          </a:p>
          <a:p>
            <a:endParaRPr/>
          </a:p>
          <a:p>
            <a:r>
              <a:t>~1m  ·  NEXT: The seven steps on one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Seven steps, in order. The order is the whole point.</a:t>
            </a:r>
          </a:p>
          <a:p>
            <a:endParaRPr/>
          </a:p>
          <a:p>
            <a:r>
              <a:t>SAY</a:t>
            </a:r>
          </a:p>
          <a:p>
            <a:r>
              <a:t>  - Let them photograph it. Say so out loud, then genuinely pause five seconds.</a:t>
            </a:r>
          </a:p>
          <a:p>
            <a:r>
              <a:t>  - Walk the arc, not the boxes: the first three steps are about the file, the next three are about the finding, the last one is about whether you send it.</a:t>
            </a:r>
          </a:p>
          <a:p>
            <a:r>
              <a:t>  - Say the thing that reframes it: most people start at step 3. That is why they get a correct answer to a question nobody had.</a:t>
            </a:r>
          </a:p>
          <a:p>
            <a:r>
              <a:t>  - Flag that Steps 1 and 2 get their own slides next, and the rest are covered inside the Eight Lenses.</a:t>
            </a:r>
          </a:p>
          <a:p>
            <a:endParaRPr/>
          </a:p>
          <a:p>
            <a:r>
              <a:t>~3m  ·  NEXT: Step 1 — Context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Three questions before the file is even open. If you cannot answer them, do not start.</a:t>
            </a:r>
          </a:p>
          <a:p>
            <a:endParaRPr/>
          </a:p>
          <a:p>
            <a:r>
              <a:t>SAY</a:t>
            </a:r>
          </a:p>
          <a:p>
            <a:r>
              <a:t>  - Question 1 — 'Who decides, and when?' Say it hard: if you cannot name the person and the date, you are producing trivia.</a:t>
            </a:r>
          </a:p>
          <a:p>
            <a:r>
              <a:t>  - Question 2 — 'Which answer would change the decision?' If every possible finding leads to the same action, cancel the analysis. That is a legitimate output.</a:t>
            </a:r>
          </a:p>
          <a:p>
            <a:r>
              <a:t>  - Question 3 — 'What is the smallest version you could answer today?' One metric, one dimension, one period.</a:t>
            </a:r>
          </a:p>
          <a:p>
            <a:r>
              <a:t>  - Personal example: give a real one from your own work where you skipped Q2 and burned a week.</a:t>
            </a:r>
          </a:p>
          <a:p>
            <a:endParaRPr/>
          </a:p>
          <a:p>
            <a:r>
              <a:t>ASK THE ROOM</a:t>
            </a:r>
          </a:p>
          <a:p>
            <a:r>
              <a:t>  "Take the file on your desk right now. Who decides, and by when? Type the name."</a:t>
            </a:r>
          </a:p>
          <a:p>
            <a:endParaRPr/>
          </a:p>
          <a:p>
            <a:r>
              <a:t>~4m  ·  NEXT: What that sounds like in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Same file, same tool. The only difference is the opening question — and it changes everything.</a:t>
            </a:r>
          </a:p>
          <a:p>
            <a:endParaRPr/>
          </a:p>
          <a:p>
            <a:r>
              <a:t>SAY</a:t>
            </a:r>
          </a:p>
          <a:p>
            <a:r>
              <a:t>  - Read the left column verbatim, in a flat voice. Every line is true. Let the room feel how useless it is.</a:t>
            </a:r>
          </a:p>
          <a:p>
            <a:r>
              <a:t>  - Land it: 'All of it true. None of it usable.' Pause.</a:t>
            </a:r>
          </a:p>
          <a:p>
            <a:r>
              <a:t>  - Now the right: one question, and the file suddenly has a job. One table, two cities named, a caveat attached.</a:t>
            </a:r>
          </a:p>
          <a:p>
            <a:r>
              <a:t>  - The point is not that the right side is longer. It is that the right side ends in a decision.</a:t>
            </a:r>
          </a:p>
          <a:p>
            <a:r>
              <a:t>  - Do not soften this. Most of the room opens files the left-hand way and knows it.</a:t>
            </a:r>
          </a:p>
          <a:p>
            <a:endParaRPr/>
          </a:p>
          <a:p>
            <a:r>
              <a:t>ASK THE ROOM</a:t>
            </a:r>
          </a:p>
          <a:p>
            <a:r>
              <a:t>  "Be honest — which side is your normal Monday?"</a:t>
            </a:r>
          </a:p>
          <a:p>
            <a:endParaRPr/>
          </a:p>
          <a:p>
            <a:r>
              <a:t>~4m  ·  NEXT: Your own Aurex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This is not a hypothetical. It is your own usage, and it says the room checks the chart more than the number.</a:t>
            </a:r>
          </a:p>
          <a:p>
            <a:endParaRPr/>
          </a:p>
          <a:p>
            <a:r>
              <a:t>SAY</a:t>
            </a:r>
          </a:p>
          <a:p>
            <a:r>
              <a:t>  - This is the slide that turns the session from advice into evidence. Slow down for it.</a:t>
            </a:r>
          </a:p>
          <a:p>
            <a:r>
              <a:t>  - Set it up honestly: 'I pulled every Aurex session up to 27 August. 1,488 sessions, 402 people. 367 of them opened on a spreadsheet. This is us.'</a:t>
            </a:r>
          </a:p>
          <a:p>
            <a:r>
              <a:t>  - 46% named no question — that is the left-hand column of the previous slide, measured.</a:t>
            </a:r>
          </a:p>
          <a:p>
            <a:r>
              <a:t>  - 46% ended after one turn — the first answer became the final answer. Nobody pushed back.</a:t>
            </a:r>
          </a:p>
          <a:p>
            <a:r>
              <a:t>  - Then the pairing, and let it sit: 41% spent turns on colour, font and axis labels. 16% ever questioned a number.</a:t>
            </a:r>
          </a:p>
          <a:p>
            <a:r>
              <a:t>  - Read the verbatim openers off the panel. They are real messages from people in this building. Read them without mockery — the point is that they are completely normal, and that is exactly the problem.</a:t>
            </a:r>
          </a:p>
          <a:p>
            <a:r>
              <a:t>  - Close: 'Nobody here is bad at this. The sequence just was not there. That is all today is.'</a:t>
            </a:r>
          </a:p>
          <a:p>
            <a:endParaRPr/>
          </a:p>
          <a:p>
            <a:r>
              <a:t>ASK THE ROOM</a:t>
            </a:r>
          </a:p>
          <a:p>
            <a:r>
              <a:t>  "Nobody has to answer out loud — but which of those four numbers is you?"</a:t>
            </a:r>
          </a:p>
          <a:p>
            <a:endParaRPr/>
          </a:p>
          <a:p>
            <a:r>
              <a:t>~5m  ·  NEXT: Step 2 — Shape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Before any arithmetic: what did this file actually arrive as?</a:t>
            </a:r>
          </a:p>
          <a:p>
            <a:endParaRPr/>
          </a:p>
          <a:p>
            <a:r>
              <a:t>SAY</a:t>
            </a:r>
          </a:p>
          <a:p>
            <a:r>
              <a:t>  - Anchor on one question and repeat it three times today: what is one row?</a:t>
            </a:r>
          </a:p>
          <a:p>
            <a:r>
              <a:t>  - Walk the checks on screen quickly — row count, column types, date range, blanks, duplicates, categories.</a:t>
            </a:r>
          </a:p>
          <a:p>
            <a:r>
              <a:t>  - Give them the two-minute rule: you are not analysing yet, you are establishing what you are holding.</a:t>
            </a:r>
          </a:p>
          <a:p>
            <a:r>
              <a:t>  - Tie it to the practice file: 3,079 rows arrive, 2,490 are confirmed. Which number goes in your headline, and can you say why?</a:t>
            </a:r>
          </a:p>
          <a:p>
            <a:endParaRPr/>
          </a:p>
          <a:p>
            <a:r>
              <a:t>ASK THE ROOM</a:t>
            </a:r>
          </a:p>
          <a:p>
            <a:r>
              <a:t>  "Open the file and answer one thing: what does one row represent?"</a:t>
            </a:r>
          </a:p>
          <a:p>
            <a:endParaRPr/>
          </a:p>
          <a:p>
            <a:r>
              <a:t>~4m  ·  NEXT: War story — identity resolution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Someone made decisions about this file before it reached you. They are now your assumptions.</a:t>
            </a:r>
          </a:p>
          <a:p>
            <a:endParaRPr/>
          </a:p>
          <a:p>
            <a:r>
              <a:t>SAY</a:t>
            </a:r>
          </a:p>
          <a:p>
            <a:r>
              <a:t>  - Statement slide. Say the headline, then stop talking. Silence does the work.</a:t>
            </a:r>
          </a:p>
          <a:p>
            <a:r>
              <a:t>  - Then one sentence: somebody filtered it, named the columns, decided what to leave out.</a:t>
            </a:r>
          </a:p>
          <a:p>
            <a:r>
              <a:t>  - The sting: those decisions are your assumptions now, whether you look at them or not.</a:t>
            </a:r>
          </a:p>
          <a:p>
            <a:r>
              <a:t>  - Do not add anything. Move.</a:t>
            </a:r>
          </a:p>
          <a:p>
            <a:endParaRPr/>
          </a:p>
          <a:p>
            <a:r>
              <a:t>~1m  ·  NEXT: Module 2 — The Eight Lenses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Almost every question you will be handed is one of eight. Naming the lens does the rest.</a:t>
            </a:r>
          </a:p>
          <a:p>
            <a:endParaRPr/>
          </a:p>
          <a:p>
            <a:r>
              <a:t>SAY</a:t>
            </a:r>
          </a:p>
          <a:p>
            <a:r>
              <a:t>  - Divider. Set the size of the promise: eight lenses, forty minutes, and it covers nearly everything anyone will ask you.</a:t>
            </a:r>
          </a:p>
          <a:p>
            <a:r>
              <a:t>  - The mechanic that matters: naming the lens tells you the cut, the chart, AND the trap to check. Three decisions from one word.</a:t>
            </a:r>
          </a:p>
          <a:p>
            <a:r>
              <a:t>  - Tell them the shape of the next forty minutes: each lens gets a card with a ready-made prompt they can paste and share immediately.</a:t>
            </a:r>
          </a:p>
          <a:p>
            <a:endParaRPr/>
          </a:p>
          <a:p>
            <a:r>
              <a:t>~1m  ·  NEXT: All eight on one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The reference artefact. Photograph this one slide and you have the module.</a:t>
            </a:r>
          </a:p>
          <a:p>
            <a:endParaRPr/>
          </a:p>
          <a:p>
            <a:r>
              <a:t>SAY</a:t>
            </a:r>
          </a:p>
          <a:p>
            <a:r>
              <a:t>  - Say 'photograph this' and then actually wait. Five full seconds. Phones up.</a:t>
            </a:r>
          </a:p>
          <a:p>
            <a:r>
              <a:t>  - Do not read the table. Read down the trap column only — that is the column nobody has seen before.</a:t>
            </a:r>
          </a:p>
          <a:p>
            <a:r>
              <a:t>  - Point out the pattern: every lens has a signature failure, and they are all failures of framing, not arithmetic.</a:t>
            </a:r>
          </a:p>
          <a:p>
            <a:r>
              <a:t>  - Promise the structure: eight cards, same four parts each — question, today's file, the trap, and the prompt.</a:t>
            </a:r>
          </a:p>
          <a:p>
            <a:endParaRPr/>
          </a:p>
          <a:p>
            <a:r>
              <a:t>ASK THE ROOM</a:t>
            </a:r>
          </a:p>
          <a:p>
            <a:r>
              <a:t>  "Scan the trap column. Which one have you personally shipped?"</a:t>
            </a:r>
          </a:p>
          <a:p>
            <a:endParaRPr/>
          </a:p>
          <a:p>
            <a:r>
              <a:t>~4m  ·  NEXT: Lens 1 — Comparison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A number means nothing until you name what it is being compared to.</a:t>
            </a:r>
          </a:p>
          <a:p>
            <a:endParaRPr/>
          </a:p>
          <a:p>
            <a:r>
              <a:t>SAY</a:t>
            </a:r>
          </a:p>
          <a:p>
            <a:r>
              <a:t>  - RHYTHM for every lens card — question, file, trap, then paste the prompt. Ninety seconds.</a:t>
            </a:r>
          </a:p>
          <a:p>
            <a:r>
              <a:t>  - This is the lens the other seven are built on. Say that.</a:t>
            </a:r>
          </a:p>
          <a:p>
            <a:r>
              <a:t>  - The trap is the good bit: Mumbai is biggest at everything, because Mumbai is biggest. Biggest is not best.</a:t>
            </a:r>
          </a:p>
          <a:p>
            <a:r>
              <a:t>  - The fix is one word — divide. Per rep, per order, per rupee of discount. Then the ranking changes and you have a finding.</a:t>
            </a:r>
          </a:p>
          <a:p>
            <a:r>
              <a:t>  - Note the prompt makes it show the city-name mapping BEFORE applying it. That is the habit: make the tool show its working.</a:t>
            </a:r>
          </a:p>
          <a:p>
            <a:r>
              <a:t>  - Then: 'Prompt is on the slide. I am dropping it in the chat now — run it while I talk.'</a:t>
            </a:r>
          </a:p>
          <a:p>
            <a:r>
              <a:t>  - Paste it into the chat for real. This is the interactive beat of the module; do not skip it to save time.</a:t>
            </a:r>
          </a:p>
          <a:p>
            <a:endParaRPr/>
          </a:p>
          <a:p>
            <a:r>
              <a:t>ASK THE ROOM</a:t>
            </a:r>
          </a:p>
          <a:p>
            <a:r>
              <a:t>  "Before you run it — guess which city wins on revenue per rep, not total revenue."</a:t>
            </a:r>
          </a:p>
          <a:p>
            <a:endParaRPr/>
          </a:p>
          <a:p>
            <a:r>
              <a:t>~2m  ·  NEXT: the chart it produces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This bar chart shape will carry more of your work than any other.</a:t>
            </a:r>
          </a:p>
          <a:p>
            <a:endParaRPr/>
          </a:p>
          <a:p>
            <a:r>
              <a:t>SAY</a:t>
            </a:r>
          </a:p>
          <a:p>
            <a:r>
              <a:t>  - Point at the three things that make it work: sorted, one colour on the point, values on the bars.</a:t>
            </a:r>
          </a:p>
          <a:p>
            <a:r>
              <a:t>  - No legend, no gridlines, no chart junk. The title carries the finding.</a:t>
            </a:r>
          </a:p>
          <a:p>
            <a:r>
              <a:t>  - Say it plainly: if you learn one chart today, learn this one.</a:t>
            </a:r>
          </a:p>
          <a:p>
            <a:r>
              <a:t>  - Compare to what they would normally get — an unsorted rainbow column chart with a legend.</a:t>
            </a:r>
          </a:p>
          <a:p>
            <a:endParaRPr/>
          </a:p>
          <a:p>
            <a:r>
              <a:t>~1m  ·  NEXT: the prompt, in 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The wording of the prompt is the lesson. It forces checkable output.</a:t>
            </a:r>
          </a:p>
          <a:p>
            <a:endParaRPr/>
          </a:p>
          <a:p>
            <a:r>
              <a:t>SAY</a:t>
            </a:r>
          </a:p>
          <a:p>
            <a:r>
              <a:t>  - This is the teaching slide for prompt construction. The other lenses get the short version; this one gets pulled apart.</a:t>
            </a:r>
          </a:p>
          <a:p>
            <a:r>
              <a:t>  - Walk the four demands in the prompt and name what each one defends against:</a:t>
            </a:r>
          </a:p>
          <a:p>
            <a:r>
              <a:t>  -   1. 'Tell me how many rows you dropped' — defends against silent filtering.</a:t>
            </a:r>
          </a:p>
          <a:p>
            <a:r>
              <a:t>  -   2. 'Show me the mapping before you apply it' — defends against invented cleaning.</a:t>
            </a:r>
          </a:p>
          <a:p>
            <a:r>
              <a:t>  -   3. 'The gap as a multiple' — defends against two numbers with no comparison.</a:t>
            </a:r>
          </a:p>
          <a:p>
            <a:r>
              <a:t>  -   4. 'Title with the finding as a sentence' — defends against a chart nobody can read.</a:t>
            </a:r>
          </a:p>
          <a:p>
            <a:r>
              <a:t>  - The meta-point: you are not asking for an answer. You are asking for an answer you can check.</a:t>
            </a:r>
          </a:p>
          <a:p>
            <a:r>
              <a:t>  - 'Paste this, do not type it' is on the slide for a reason — typing introduces variation and they lose the constraint.</a:t>
            </a:r>
          </a:p>
          <a:p>
            <a:endParaRPr/>
          </a:p>
          <a:p>
            <a:r>
              <a:t>ASK THE ROOM</a:t>
            </a:r>
          </a:p>
          <a:p>
            <a:r>
              <a:t>  "Which of those four constraints would have saved you on a recent piece of work?"</a:t>
            </a:r>
          </a:p>
          <a:p>
            <a:endParaRPr/>
          </a:p>
          <a:p>
            <a:r>
              <a:t>~4m  ·  NEXT: Lens 2 — Ranking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A top-10 list flatters everybody. The bottom is where the money you can recover actually sits.</a:t>
            </a:r>
          </a:p>
          <a:p>
            <a:endParaRPr/>
          </a:p>
          <a:p>
            <a:r>
              <a:t>SAY</a:t>
            </a:r>
          </a:p>
          <a:p>
            <a:r>
              <a:t>  - RHYTHM for every lens card — question, file, trap, then paste the prompt. Ninety seconds.</a:t>
            </a:r>
          </a:p>
          <a:p>
            <a:r>
              <a:t>  - Ranking is Comparison with the order made explicit — say the link, it keeps the eight from feeling like a list of eight unrelated things.</a:t>
            </a:r>
          </a:p>
          <a:p>
            <a:r>
              <a:t>  - The trap: top-10 lists get made because they are pleasant. Nobody makes a bottom-10 because nobody wants to present it.</a:t>
            </a:r>
          </a:p>
          <a:p>
            <a:r>
              <a:t>  - But the recoverable money is at the bottom. Rank 25 moving to rank 15 is worth more than rank 1 moving to rank 1.</a:t>
            </a:r>
          </a:p>
          <a:p>
            <a:r>
              <a:t>  - The prompt forces the order count beside every name — a rank built on three deals is noise, not performance.</a:t>
            </a:r>
          </a:p>
          <a:p>
            <a:r>
              <a:t>  - Then: 'Prompt is on the slide. I am dropping it in the chat now — run it while I talk.'</a:t>
            </a:r>
          </a:p>
          <a:p>
            <a:r>
              <a:t>  - Paste it into the chat for real. This is the interactive beat of the module; do not skip it to save time.</a:t>
            </a:r>
          </a:p>
          <a:p>
            <a:endParaRPr/>
          </a:p>
          <a:p>
            <a:r>
              <a:t>ASK THE ROOM</a:t>
            </a:r>
          </a:p>
          <a:p>
            <a:r>
              <a:t>  "In your team's last ranking, did anyone show the bottom?"</a:t>
            </a:r>
          </a:p>
          <a:p>
            <a:endParaRPr/>
          </a:p>
          <a:p>
            <a:r>
              <a:t>~2m  ·  NEXT: the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Show both ends, or you have hidden the actionable half.</a:t>
            </a:r>
          </a:p>
          <a:p>
            <a:endParaRPr/>
          </a:p>
          <a:p>
            <a:r>
              <a:t>SAY</a:t>
            </a:r>
          </a:p>
          <a:p>
            <a:r>
              <a:t>  - Point at the gap between the two ends — that distance is the management conversation.</a:t>
            </a:r>
          </a:p>
          <a:p>
            <a:r>
              <a:t>  - A top-5 on its own would have hidden all of it.</a:t>
            </a:r>
          </a:p>
          <a:p>
            <a:r>
              <a:t>  - One line and move: 'Same data, twice the decision.'</a:t>
            </a:r>
          </a:p>
          <a:p>
            <a:endParaRPr/>
          </a:p>
          <a:p>
            <a:r>
              <a:t>~1m  ·  NEXT: Lens 3 — Trend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A direction with no date attached is not actionable.</a:t>
            </a:r>
          </a:p>
          <a:p>
            <a:endParaRPr/>
          </a:p>
          <a:p>
            <a:r>
              <a:t>SAY</a:t>
            </a:r>
          </a:p>
          <a:p>
            <a:r>
              <a:t>  - RHYTHM for every lens card — question, file, trap, then paste the prompt. Ninety seconds.</a:t>
            </a:r>
          </a:p>
          <a:p>
            <a:r>
              <a:t>  - Push on 'and when exactly'. 'Digital is growing' is not a finding. 'Digital turned in March 2023' is.</a:t>
            </a:r>
          </a:p>
          <a:p>
            <a:r>
              <a:t>  - The trap is a scale problem: when one series is forty times another, the raw plot shows you the big line and nothing else.</a:t>
            </a:r>
          </a:p>
          <a:p>
            <a:r>
              <a:t>  - Indexing to a common base is the whole fix, and it takes one line in the prompt.</a:t>
            </a:r>
          </a:p>
          <a:p>
            <a:r>
              <a:t>  - Note the last line of the prompt — exclude the part-finished month. That is Distortion 3 arriving early; flag it and say you will come back to it.</a:t>
            </a:r>
          </a:p>
          <a:p>
            <a:r>
              <a:t>  - Then: 'Prompt is on the slide. I am dropping it in the chat now — run it while I talk.'</a:t>
            </a:r>
          </a:p>
          <a:p>
            <a:r>
              <a:t>  - Paste it into the chat for real. This is the interactive beat of the module; do not skip it to save time.</a:t>
            </a:r>
          </a:p>
          <a:p>
            <a:endParaRPr/>
          </a:p>
          <a:p>
            <a:r>
              <a:t>ASK THE ROOM</a:t>
            </a:r>
          </a:p>
          <a:p>
            <a:r>
              <a:t>  "Anyone reported a monthly number this year that included a half-finished month?"</a:t>
            </a:r>
          </a:p>
          <a:p>
            <a:endParaRPr/>
          </a:p>
          <a:p>
            <a:r>
              <a:t>~2m  ·  NEXT: the indexed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Indexed to 2022 = 100. Now every series is visible.</a:t>
            </a:r>
          </a:p>
          <a:p>
            <a:endParaRPr/>
          </a:p>
          <a:p>
            <a:r>
              <a:t>SAY</a:t>
            </a:r>
          </a:p>
          <a:p>
            <a:r>
              <a:t>  - Say the counterfactual: plotted raw, this chart is one big line and four flat ones at the bottom.</a:t>
            </a:r>
          </a:p>
          <a:p>
            <a:r>
              <a:t>  - Indexing does not change the data. It changes what you can see.</a:t>
            </a:r>
          </a:p>
          <a:p>
            <a:r>
              <a:t>  - Caution to add out loud: indexed charts hide absolute size. Always show the base values somewhere.</a:t>
            </a:r>
          </a:p>
          <a:p>
            <a:endParaRPr/>
          </a:p>
          <a:p>
            <a:r>
              <a:t>~1m  ·  NEXT: Lens 4 — Composition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Volume can rise while revenue stalls. That is mix moving, and it is not performance.</a:t>
            </a:r>
          </a:p>
          <a:p>
            <a:endParaRPr/>
          </a:p>
          <a:p>
            <a:r>
              <a:t>SAY</a:t>
            </a:r>
          </a:p>
          <a:p>
            <a:r>
              <a:t>  - RHYTHM for every lens card — question, file, trap, then paste the prompt. Ninety seconds.</a:t>
            </a:r>
          </a:p>
          <a:p>
            <a:r>
              <a:t>  - Composition is a trend question in different clothes — always ask for it BY PERIOD, never as a single pie.</a:t>
            </a:r>
          </a:p>
          <a:p>
            <a:r>
              <a:t>  - The trap is the most commercially expensive one in the deck: pages sold went up, money did not, and somebody gets congratulated.</a:t>
            </a:r>
          </a:p>
          <a:p>
            <a:r>
              <a:t>  - Say the diagnosis out loud: more of what sold was the cheap thing.</a:t>
            </a:r>
          </a:p>
          <a:p>
            <a:r>
              <a:t>  - The prompt asks for share % and absolute rupees in the same table. When those two disagree, you have found the story.</a:t>
            </a:r>
          </a:p>
          <a:p>
            <a:r>
              <a:t>  - Then: 'Prompt is on the slide. I am dropping it in the chat now — run it while I talk.'</a:t>
            </a:r>
          </a:p>
          <a:p>
            <a:r>
              <a:t>  - Paste it into the chat for real. This is the interactive beat of the module; do not skip it to save time.</a:t>
            </a:r>
          </a:p>
          <a:p>
            <a:endParaRPr/>
          </a:p>
          <a:p>
            <a:r>
              <a:t>ASK THE ROOM</a:t>
            </a:r>
          </a:p>
          <a:p>
            <a:r>
              <a:t>  "Where in your patch could volume be up and value flat right now?"</a:t>
            </a:r>
          </a:p>
          <a:p>
            <a:endParaRPr/>
          </a:p>
          <a:p>
            <a:r>
              <a:t>~2m  ·  NEXT: the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Mix shift lives here, and it is the finding most often missed.</a:t>
            </a:r>
          </a:p>
          <a:p>
            <a:endParaRPr/>
          </a:p>
          <a:p>
            <a:r>
              <a:t>SAY</a:t>
            </a:r>
          </a:p>
          <a:p>
            <a:r>
              <a:t>  - Trace the shrinking band with your finger, then the growing one.</a:t>
            </a:r>
          </a:p>
          <a:p>
            <a:r>
              <a:t>  - Say the sentence on the slide slowly: more of what sold was the cheap thing, so pages went up and money did not.</a:t>
            </a:r>
          </a:p>
          <a:p>
            <a:r>
              <a:t>  - That is a sentence they can take into a review meeting tomorrow.</a:t>
            </a:r>
          </a:p>
          <a:p>
            <a:endParaRPr/>
          </a:p>
          <a:p>
            <a:r>
              <a:t>~1m  ·  NEXT: Lens 5 — Distribution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Quote the mean as 'typical' on this file and you overstate by 2.3×.</a:t>
            </a:r>
          </a:p>
          <a:p>
            <a:endParaRPr/>
          </a:p>
          <a:p>
            <a:r>
              <a:t>SAY</a:t>
            </a:r>
          </a:p>
          <a:p>
            <a:r>
              <a:t>  - RHYTHM for every lens card — question, file, trap, then paste the prompt. Ninety seconds.</a:t>
            </a:r>
          </a:p>
          <a:p>
            <a:r>
              <a:t>  - Do the numbers as a live moment: mean ₹1.80 lakh, median ₹0.79 lakh. Ask the room which one is 'a normal deal'.</a:t>
            </a:r>
          </a:p>
          <a:p>
            <a:r>
              <a:t>  - Someone will say the mean. That is the point — the mean is the default and the default is wrong here.</a:t>
            </a:r>
          </a:p>
          <a:p>
            <a:r>
              <a:t>  - Explain why in one line: a handful of whales drag the average away from reality.</a:t>
            </a:r>
          </a:p>
          <a:p>
            <a:r>
              <a:t>  - Give them the rule of thumb they can carry: mean-to-median above 1.3 and you must not say 'typical' about the mean.</a:t>
            </a:r>
          </a:p>
          <a:p>
            <a:r>
              <a:t>  - The prompt asks for the ratio explicitly, so the tool tells you which figure to quote.</a:t>
            </a:r>
          </a:p>
          <a:p>
            <a:r>
              <a:t>  - Then: 'Prompt is on the slide. I am dropping it in the chat now — run it while I talk.'</a:t>
            </a:r>
          </a:p>
          <a:p>
            <a:r>
              <a:t>  - Paste it into the chat for real. This is the interactive beat of the module; do not skip it to save time.</a:t>
            </a:r>
          </a:p>
          <a:p>
            <a:endParaRPr/>
          </a:p>
          <a:p>
            <a:r>
              <a:t>ASK THE ROOM</a:t>
            </a:r>
          </a:p>
          <a:p>
            <a:r>
              <a:t>  "Say the honest sentence out loud: what IS a normal deal on this file?"</a:t>
            </a:r>
          </a:p>
          <a:p>
            <a:endParaRPr/>
          </a:p>
          <a:p>
            <a:r>
              <a:t>~2m  ·  NEXT: the histogram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The gap between mean and median is the whole finding.</a:t>
            </a:r>
          </a:p>
          <a:p>
            <a:endParaRPr/>
          </a:p>
          <a:p>
            <a:r>
              <a:t>SAY</a:t>
            </a:r>
          </a:p>
          <a:p>
            <a:r>
              <a:t>  - Point at the long right tail. That tail is what pulls the mean up.</a:t>
            </a:r>
          </a:p>
          <a:p>
            <a:r>
              <a:t>  - Median line on the chart, not just in the caption — that is a deliberate choice, say so.</a:t>
            </a:r>
          </a:p>
          <a:p>
            <a:r>
              <a:t>  - Close with the consequence: call the mean 'typical' in a meeting and you have overstated by 2.3×. Somebody will plan against that.</a:t>
            </a:r>
          </a:p>
          <a:p>
            <a:endParaRPr/>
          </a:p>
          <a:p>
            <a:r>
              <a:t>~1m  ·  NEXT: Lens 6 — Correlation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A clean 'no relationship' is a real result, and it settles arguments that have run for months.</a:t>
            </a:r>
          </a:p>
          <a:p>
            <a:endParaRPr/>
          </a:p>
          <a:p>
            <a:r>
              <a:t>SAY</a:t>
            </a:r>
          </a:p>
          <a:p>
            <a:r>
              <a:t>  - RHYTHM for every lens card — question, file, trap, then paste the prompt. Ninety seconds.</a:t>
            </a:r>
          </a:p>
          <a:p>
            <a:r>
              <a:t>  - This is where the room usually expects a finding and gets none. Use that.</a:t>
            </a:r>
          </a:p>
          <a:p>
            <a:r>
              <a:t>  - r = −0.05. There is nothing there. Bigger discounts do not win bigger deals on this file.</a:t>
            </a:r>
          </a:p>
          <a:p>
            <a:r>
              <a:t>  - Say why that matters commercially: somebody has been arguing for deeper discounts on instinct. This ends it.</a:t>
            </a:r>
          </a:p>
          <a:p>
            <a:r>
              <a:t>  - The trap and the discipline: two things moving together is not one causing the other. Name the third thing.</a:t>
            </a:r>
          </a:p>
          <a:p>
            <a:r>
              <a:t>  - Note the prompt explicitly forbids causal language. That constraint is doing real work.</a:t>
            </a:r>
          </a:p>
          <a:p>
            <a:r>
              <a:t>  - Then: 'Prompt is on the slide. I am dropping it in the chat now — run it while I talk.'</a:t>
            </a:r>
          </a:p>
          <a:p>
            <a:r>
              <a:t>  - Paste it into the chat for real. This is the interactive beat of the module; do not skip it to save time.</a:t>
            </a:r>
          </a:p>
          <a:p>
            <a:endParaRPr/>
          </a:p>
          <a:p>
            <a:r>
              <a:t>ASK THE ROOM</a:t>
            </a:r>
          </a:p>
          <a:p>
            <a:r>
              <a:t>  "What is the discount argument in your team, and what would settle it?"</a:t>
            </a:r>
          </a:p>
          <a:p>
            <a:endParaRPr/>
          </a:p>
          <a:p>
            <a:r>
              <a:t>~2m  ·  NEXT: the scatter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Nothing there. Say so, and stop looking.</a:t>
            </a:r>
          </a:p>
          <a:p>
            <a:endParaRPr/>
          </a:p>
          <a:p>
            <a:r>
              <a:t>SAY</a:t>
            </a:r>
          </a:p>
          <a:p>
            <a:r>
              <a:t>  - Show the cloud. No pattern. Resist the urge to squint for one.</a:t>
            </a:r>
          </a:p>
          <a:p>
            <a:r>
              <a:t>  - The professional move is reporting the null result and moving on.</a:t>
            </a:r>
          </a:p>
          <a:p>
            <a:r>
              <a:t>  - One warning: r near zero rules out a straight-line relationship, not every relationship. Say that if the room is technical.</a:t>
            </a:r>
          </a:p>
          <a:p>
            <a:endParaRPr/>
          </a:p>
          <a:p>
            <a:r>
              <a:t>~1m  ·  NEXT: Lens 7 — Outliers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80 deals out of 2,490 carry 22% of revenue. Lose two and your trend disappears.</a:t>
            </a:r>
          </a:p>
          <a:p>
            <a:endParaRPr/>
          </a:p>
          <a:p>
            <a:r>
              <a:t>SAY</a:t>
            </a:r>
          </a:p>
          <a:p>
            <a:r>
              <a:t>  - RHYTHM for every lens card — question, file, trap, then paste the prompt. Ninety seconds.</a:t>
            </a:r>
          </a:p>
          <a:p>
            <a:r>
              <a:t>  - Open with the fork: something looks wrong. Is it a story or is it a bug? Two completely different next actions.</a:t>
            </a:r>
          </a:p>
          <a:p>
            <a:r>
              <a:t>  - Then the concentration number. 80 deals, 3% of rows, 22% of the money.</a:t>
            </a:r>
          </a:p>
          <a:p>
            <a:r>
              <a:t>  - The consequence is what lands: a segment gets called a growth engine, one client churns, and the growth engine goes with it. That was on slide 3.</a:t>
            </a:r>
          </a:p>
          <a:p>
            <a:r>
              <a:t>  - The test in the prompt is the reusable habit: re-run your headline with the top 1% removed. If it vanishes, you must say so.</a:t>
            </a:r>
          </a:p>
          <a:p>
            <a:r>
              <a:t>  - REAL EXAMPLE if you want one: a colleague here asked this month how to verify field-team GPS check-ins, suspecting depots were geo-tagged wrong. That is this lens — is the odd value real, or is it a data error?</a:t>
            </a:r>
          </a:p>
          <a:p>
            <a:r>
              <a:t>  - Then: 'Prompt is on the slide. I am dropping it in the chat now — run it while I talk.'</a:t>
            </a:r>
          </a:p>
          <a:p>
            <a:r>
              <a:t>  - Paste it into the chat for real. This is the interactive beat of the module; do not skip it to save time.</a:t>
            </a:r>
          </a:p>
          <a:p>
            <a:endParaRPr/>
          </a:p>
          <a:p>
            <a:r>
              <a:t>ASK THE ROOM</a:t>
            </a:r>
          </a:p>
          <a:p>
            <a:r>
              <a:t>  "Does your headline survive without your top two accounts?"</a:t>
            </a:r>
          </a:p>
          <a:p>
            <a:endParaRPr/>
          </a:p>
          <a:p>
            <a:r>
              <a:t>~2m  ·  NEXT: the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Concentration read as a trend is the most common way a growth story turns out to be one client.</a:t>
            </a:r>
          </a:p>
          <a:p>
            <a:endParaRPr/>
          </a:p>
          <a:p>
            <a:r>
              <a:t>SAY</a:t>
            </a:r>
          </a:p>
          <a:p>
            <a:r>
              <a:t>  - Point at the handful on the right. Name what percentage of revenue they are.</a:t>
            </a:r>
          </a:p>
          <a:p>
            <a:r>
              <a:t>  - Say the sentence: lose two of them and the trend you were describing goes away.</a:t>
            </a:r>
          </a:p>
          <a:p>
            <a:r>
              <a:t>  - Then the ask: that caveat goes in the email, not in your head.</a:t>
            </a:r>
          </a:p>
          <a:p>
            <a:endParaRPr/>
          </a:p>
          <a:p>
            <a:r>
              <a:t>~1m  ·  NEXT: Lens 8 — Decomposition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'It went up' is not a driver. If the parts do not sum, you do not have an answer.</a:t>
            </a:r>
          </a:p>
          <a:p>
            <a:endParaRPr/>
          </a:p>
          <a:p>
            <a:r>
              <a:t>SAY</a:t>
            </a:r>
          </a:p>
          <a:p>
            <a:r>
              <a:t>  - RHYTHM for every lens card — question, file, trap, then paste the prompt. Ninety seconds.</a:t>
            </a:r>
          </a:p>
          <a:p>
            <a:r>
              <a:t>  - This is the lens that gets you invited back into the room. Say that explicitly.</a:t>
            </a:r>
          </a:p>
          <a:p>
            <a:r>
              <a:t>  - Revenue grew 21%. More deals or bigger deals? Two completely different management responses.</a:t>
            </a:r>
          </a:p>
          <a:p>
            <a:r>
              <a:t>  - The answer on this file: roughly 20% from more orders, 80% from bigger ones. So the action is about pricing, not headcount.</a:t>
            </a:r>
          </a:p>
          <a:p>
            <a:r>
              <a:t>  - The discipline is the residual. Parts must sum to the whole. An unexplained residual means you do not understand the movement yet.</a:t>
            </a:r>
          </a:p>
          <a:p>
            <a:r>
              <a:t>  - This is the one lens where the full prompt gets its own slide next — flag that.</a:t>
            </a:r>
          </a:p>
          <a:p>
            <a:r>
              <a:t>  - Then: 'Prompt is on the slide. I am dropping it in the chat now — run it while I talk.'</a:t>
            </a:r>
          </a:p>
          <a:p>
            <a:r>
              <a:t>  - Paste it into the chat for real. This is the interactive beat of the module; do not skip it to save time.</a:t>
            </a:r>
          </a:p>
          <a:p>
            <a:endParaRPr/>
          </a:p>
          <a:p>
            <a:r>
              <a:t>ASK THE ROOM</a:t>
            </a:r>
          </a:p>
          <a:p>
            <a:r>
              <a:t>  "Last time revenue moved in your patch — was it volume or price? Do you actually know?"</a:t>
            </a:r>
          </a:p>
          <a:p>
            <a:endParaRPr/>
          </a:p>
          <a:p>
            <a:r>
              <a:t>~2m  ·  NEXT: the bridge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The parts have to sum to the whole. That is the check.</a:t>
            </a:r>
          </a:p>
          <a:p>
            <a:endParaRPr/>
          </a:p>
          <a:p>
            <a:r>
              <a:t>SAY</a:t>
            </a:r>
          </a:p>
          <a:p>
            <a:r>
              <a:t>  - Walk the bridge left to right, naming each bar.</a:t>
            </a:r>
          </a:p>
          <a:p>
            <a:r>
              <a:t>  - Land on the residual: if that bar is not near zero, the analysis is not finished.</a:t>
            </a:r>
          </a:p>
          <a:p>
            <a:r>
              <a:t>  - Say the professional standard: you print the residual even when it is zero, because printing it is how anyone knows you checked.</a:t>
            </a:r>
          </a:p>
          <a:p>
            <a:endParaRPr/>
          </a:p>
          <a:p>
            <a:r>
              <a:t>~1m  ·  NEXT: the full decomposition prompt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A prompt that makes the tool prove its own arithmetic.</a:t>
            </a:r>
          </a:p>
          <a:p>
            <a:endParaRPr/>
          </a:p>
          <a:p>
            <a:r>
              <a:t>SAY</a:t>
            </a:r>
          </a:p>
          <a:p>
            <a:r>
              <a:t>  - Second teaching slide on prompt construction. Contrast it with slide 17: that one enforced honesty about cleaning, this one enforces honesty about maths.</a:t>
            </a:r>
          </a:p>
          <a:p>
            <a:r>
              <a:t>  - The killer line is 'If the residual is not about zero, stop and tell me what is unexplained.' You are giving the tool permission to fail loudly.</a:t>
            </a:r>
          </a:p>
          <a:p>
            <a:r>
              <a:t>  - 'Label every driver OBSERVED or INFERRED' — two words that change how a room treats a claim. Come back to this in Module 4.</a:t>
            </a:r>
          </a:p>
          <a:p>
            <a:r>
              <a:t>  - Point at the right-hand column: this is what checkable output looks like. Not prettier, just verifiable.</a:t>
            </a:r>
          </a:p>
          <a:p>
            <a:endParaRPr/>
          </a:p>
          <a:p>
            <a:r>
              <a:t>ASK THE ROOM</a:t>
            </a:r>
          </a:p>
          <a:p>
            <a:r>
              <a:t>  "Add one constraint to this prompt for your own work. What would it be?"</a:t>
            </a:r>
          </a:p>
          <a:p>
            <a:endParaRPr/>
          </a:p>
          <a:p>
            <a:r>
              <a:t>~3m  ·  NEXT: War story — contextual targeting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The lift was real. The first number we ran was not.</a:t>
            </a:r>
          </a:p>
          <a:p>
            <a:endParaRPr/>
          </a:p>
          <a:p>
            <a:r>
              <a:t>SAY</a:t>
            </a:r>
          </a:p>
          <a:p>
            <a:r>
              <a:t>  - Tell it plainly: we moved from broad targeting to in-page semantics. The early read looked enormous.</a:t>
            </a:r>
          </a:p>
          <a:p>
            <a:r>
              <a:t>  - Why it was wrong: the two groups were not comparable. Different placements, different weeks, different mix.</a:t>
            </a:r>
          </a:p>
          <a:p>
            <a:r>
              <a:t>  - The honest ending is the point — cut like-for-like, the gain held up. Smaller, and defensible in front of a client.</a:t>
            </a:r>
          </a:p>
          <a:p>
            <a:r>
              <a:t>  - Say the uncomfortable part out loud: the bigger number would have been easier to present and would have blown up later.</a:t>
            </a:r>
          </a:p>
          <a:p>
            <a:r>
              <a:t>  - Land the closing line: Lens 1 is the whole discipline. A number means nothing until you name what it is compared to.</a:t>
            </a:r>
          </a:p>
          <a:p>
            <a:endParaRPr/>
          </a:p>
          <a:p>
            <a:r>
              <a:t>~3m  ·  NEXT: Statement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Lenses 6, 7 and 8 are the ones that get skipped and the ones that get you invited back.</a:t>
            </a:r>
          </a:p>
          <a:p>
            <a:endParaRPr/>
          </a:p>
          <a:p>
            <a:r>
              <a:t>SAY</a:t>
            </a:r>
          </a:p>
          <a:p>
            <a:r>
              <a:t>  - Statement slide. Say the headline, pause, say the line underneath, move.</a:t>
            </a:r>
          </a:p>
          <a:p>
            <a:r>
              <a:t>  - If you want one extra beat: most people stop at 'revenue went up' because that is where the work stops being easy.</a:t>
            </a:r>
          </a:p>
          <a:p>
            <a:endParaRPr/>
          </a:p>
          <a:p>
            <a:r>
              <a:t>~1m  ·  NEXT: Hands-on block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Twelve minutes of them doing it, not you talking. Protect this block.</a:t>
            </a:r>
          </a:p>
          <a:p>
            <a:endParaRPr/>
          </a:p>
          <a:p>
            <a:r>
              <a:t>SAY</a:t>
            </a:r>
          </a:p>
          <a:p>
            <a:r>
              <a:t>  - Read the three instructions and then stop talking. Genuinely stop.</a:t>
            </a:r>
          </a:p>
          <a:p>
            <a:r>
              <a:t>  - Set a visible timer. Twelve minutes.</a:t>
            </a:r>
          </a:p>
          <a:p>
            <a:r>
              <a:t>  - Repeat the third instruction, because it is the one that gets skipped: write down WHICH TRAP you checked for.</a:t>
            </a:r>
          </a:p>
          <a:p>
            <a:r>
              <a:t>  - Walk the room, or watch the chat. Look for people who picked two lenses that are really the same lens.</a:t>
            </a:r>
          </a:p>
          <a:p>
            <a:r>
              <a:t>  - At two minutes remaining, say so.</a:t>
            </a:r>
          </a:p>
          <a:p>
            <a:r>
              <a:t>  - Bring it back with the chat prompt: the one thing that surprised you most. Read out three. Do not comment on all of them — pick the one that sets up Module 3.</a:t>
            </a:r>
          </a:p>
          <a:p>
            <a:endParaRPr/>
          </a:p>
          <a:p>
            <a:r>
              <a:t>ASK THE ROOM</a:t>
            </a:r>
          </a:p>
          <a:p>
            <a:r>
              <a:t>  "Post in the chat: the one thing that surprised you most."</a:t>
            </a:r>
          </a:p>
          <a:p>
            <a:endParaRPr/>
          </a:p>
          <a:p>
            <a:r>
              <a:t>~12m  ·  NEXT: Module 3 — The Chart Selector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Say the comparison out loud and the chart stops being a matter of taste.</a:t>
            </a:r>
          </a:p>
          <a:p>
            <a:endParaRPr/>
          </a:p>
          <a:p>
            <a:r>
              <a:t>SAY</a:t>
            </a:r>
          </a:p>
          <a:p>
            <a:r>
              <a:t>  - Divider. Fifteen minutes, and it is the fastest win in the session.</a:t>
            </a:r>
          </a:p>
          <a:p>
            <a:r>
              <a:t>  - The framing: chart choice feels like design. It is not. It is a lookup.</a:t>
            </a:r>
          </a:p>
          <a:p>
            <a:r>
              <a:t>  - Set the mechanic: name the comparison in words first, then take the chart the selector gives you. No debate.</a:t>
            </a:r>
          </a:p>
          <a:p>
            <a:endParaRPr/>
          </a:p>
          <a:p>
            <a:r>
              <a:t>~1m  ·  NEXT: the selector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Nine comparisons, nine answers. Photograph it.</a:t>
            </a:r>
          </a:p>
          <a:p>
            <a:endParaRPr/>
          </a:p>
          <a:p>
            <a:r>
              <a:t>SAY</a:t>
            </a:r>
          </a:p>
          <a:p>
            <a:r>
              <a:t>  - Say 'photograph this' and wait. This is the second artefact of the day.</a:t>
            </a:r>
          </a:p>
          <a:p>
            <a:r>
              <a:t>  - Do not read all nine. Pick three the room will use tomorrow and do those.</a:t>
            </a:r>
          </a:p>
          <a:p>
            <a:r>
              <a:t>  - Make the point about pie charts explicitly if it is on there — people want to be told.</a:t>
            </a:r>
          </a:p>
          <a:p>
            <a:r>
              <a:t>  - The habit to install: before you choose a chart, finish the sentence 'I am comparing ___ across ___.'</a:t>
            </a:r>
          </a:p>
          <a:p>
            <a:endParaRPr/>
          </a:p>
          <a:p>
            <a:r>
              <a:t>ASK THE ROOM</a:t>
            </a:r>
          </a:p>
          <a:p>
            <a:r>
              <a:t>  "Finish this out loud for your current piece of work: I am comparing ___ across ___."</a:t>
            </a:r>
          </a:p>
          <a:p>
            <a:endParaRPr/>
          </a:p>
          <a:p>
            <a:r>
              <a:t>~4m  ·  NEXT: the same numbers, twice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Identical numbers. Two charts. Only one of them says anything.</a:t>
            </a:r>
          </a:p>
          <a:p>
            <a:endParaRPr/>
          </a:p>
          <a:p>
            <a:r>
              <a:t>SAY</a:t>
            </a:r>
          </a:p>
          <a:p>
            <a:r>
              <a:t>  - Do not explain first. Show it and ask what is different. Let them find it.</a:t>
            </a:r>
          </a:p>
          <a:p>
            <a:r>
              <a:t>  - Then name the three changes: sorted, one colour, values on the bars.</a:t>
            </a:r>
          </a:p>
          <a:p>
            <a:r>
              <a:t>  - The honest bit: nobody made the bad chart on purpose. It is the default output.</a:t>
            </a:r>
          </a:p>
          <a:p>
            <a:r>
              <a:t>  - So the rule is: the default is never finished.</a:t>
            </a:r>
          </a:p>
          <a:p>
            <a:endParaRPr/>
          </a:p>
          <a:p>
            <a:r>
              <a:t>ASK THE ROOM</a:t>
            </a:r>
          </a:p>
          <a:p>
            <a:r>
              <a:t>  "What is different? Shout it out."</a:t>
            </a:r>
          </a:p>
          <a:p>
            <a:endParaRPr/>
          </a:p>
          <a:p>
            <a:r>
              <a:t>~3m  ·  NEXT: the three rules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Three rules fix almost every chart you will ever make.</a:t>
            </a:r>
          </a:p>
          <a:p>
            <a:endParaRPr/>
          </a:p>
          <a:p>
            <a:r>
              <a:t>SAY</a:t>
            </a:r>
          </a:p>
          <a:p>
            <a:r>
              <a:t>  - Rule 1 is the one that changes careers: put the finding in the title. 'Display is 63% of revenue', never 'Revenue by Ad Type'.</a:t>
            </a:r>
          </a:p>
          <a:p>
            <a:r>
              <a:t>  - Say why: a descriptive title makes the reader do the work. Half of them will do it wrong.</a:t>
            </a:r>
          </a:p>
          <a:p>
            <a:r>
              <a:t>  - Rule 2 — colour is an argument, not decoration. One colour carries the point, everything else goes grey.</a:t>
            </a:r>
          </a:p>
          <a:p>
            <a:r>
              <a:t>  - Rule 3 — label the bars, delete the furniture. Legend, gridlines, border, markers. All of it competes with the data.</a:t>
            </a:r>
          </a:p>
          <a:p>
            <a:r>
              <a:t>  - The closing test on the slide is the real takeaway: point at anything still on the chart and ask what it proves. If it does not support the title, take it off.</a:t>
            </a:r>
          </a:p>
          <a:p>
            <a:endParaRPr/>
          </a:p>
          <a:p>
            <a:r>
              <a:t>ASK THE ROOM</a:t>
            </a:r>
          </a:p>
          <a:p>
            <a:r>
              <a:t>  "Open your last chart. Is the title a finding, or a label?"</a:t>
            </a:r>
          </a:p>
          <a:p>
            <a:endParaRPr/>
          </a:p>
          <a:p>
            <a:r>
              <a:t>~5m  ·  NEXT: Module 4 — The Six Distortions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Six ways a technically correct number tells a room the wrong thing.</a:t>
            </a:r>
          </a:p>
          <a:p>
            <a:endParaRPr/>
          </a:p>
          <a:p>
            <a:r>
              <a:t>SAY</a:t>
            </a:r>
          </a:p>
          <a:p>
            <a:r>
              <a:t>  - Divider. Stress the framing hard: no formulas, no statistics. These are all failures of framing.</a:t>
            </a:r>
          </a:p>
          <a:p>
            <a:r>
              <a:t>  - Say it: every number in this module is arithmetically correct. That is what makes them dangerous.</a:t>
            </a:r>
          </a:p>
          <a:p>
            <a:r>
              <a:t>  - Twenty minutes.</a:t>
            </a:r>
          </a:p>
          <a:p>
            <a:endParaRPr/>
          </a:p>
          <a:p>
            <a:r>
              <a:t>~1m  ·  NEXT: Distortion 1 — counts where rates belong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Counts reward whoever is biggest. Rates tell you who is actually good.</a:t>
            </a:r>
          </a:p>
          <a:p>
            <a:endParaRPr/>
          </a:p>
          <a:p>
            <a:r>
              <a:t>SAY</a:t>
            </a:r>
          </a:p>
          <a:p>
            <a:r>
              <a:t>  - Walk the chart: on counts one answer wins, on rates a different one does. Same data.</a:t>
            </a:r>
          </a:p>
          <a:p>
            <a:r>
              <a:t>  - This is Lens 1's trap arriving as its own distortion — say the callback, it makes the deck feel like one thing.</a:t>
            </a:r>
          </a:p>
          <a:p>
            <a:r>
              <a:t>  - Real example if useful: circulation targets. AOP 28,141 against actual 27,060 is a shortfall of 1,081 — but per person it is 353, 184 and 544. The three are completely different conversations. Only the per-person view tells you where to act.</a:t>
            </a:r>
          </a:p>
          <a:p>
            <a:endParaRPr/>
          </a:p>
          <a:p>
            <a:r>
              <a:t>~3m  ·  NEXT: Statement — always ask per what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Always ask 'per what?'</a:t>
            </a:r>
          </a:p>
          <a:p>
            <a:endParaRPr/>
          </a:p>
          <a:p>
            <a:r>
              <a:t>SAY</a:t>
            </a:r>
          </a:p>
          <a:p>
            <a:r>
              <a:t>  - Statement slide. Say the four words. Pause.</a:t>
            </a:r>
          </a:p>
          <a:p>
            <a:r>
              <a:t>  - Then the list, slowly, because this is the bit they will actually reuse: per order, per rep, per rupee spent, per head.</a:t>
            </a:r>
          </a:p>
          <a:p>
            <a:r>
              <a:t>  - One line: counts reward whoever is biggest. Divide by something and you find out who is good at it.</a:t>
            </a:r>
          </a:p>
          <a:p>
            <a:r>
              <a:t>  - Move.</a:t>
            </a:r>
          </a:p>
          <a:p>
            <a:endParaRPr/>
          </a:p>
          <a:p>
            <a:r>
              <a:t>~1m  ·  NEXT: Distortion 2 — the mean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The mean quoted as typical. The most common distortion in this building.</a:t>
            </a:r>
          </a:p>
          <a:p>
            <a:endParaRPr/>
          </a:p>
          <a:p>
            <a:r>
              <a:t>SAY</a:t>
            </a:r>
          </a:p>
          <a:p>
            <a:r>
              <a:t>  - Point at the skew on the chart.</a:t>
            </a:r>
          </a:p>
          <a:p>
            <a:r>
              <a:t>  - Callback to Lens 5 — same problem, now named as a distortion in its own right.</a:t>
            </a:r>
          </a:p>
          <a:p>
            <a:r>
              <a:t>  - Do not re-teach it. They have seen it. This slide is reinforcement, not new material.</a:t>
            </a:r>
          </a:p>
          <a:p>
            <a:endParaRPr/>
          </a:p>
          <a:p>
            <a:r>
              <a:t>~2m  ·  NEXT: Mean, median and the 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Read the gap before you quote either number.</a:t>
            </a:r>
          </a:p>
          <a:p>
            <a:endParaRPr/>
          </a:p>
          <a:p>
            <a:r>
              <a:t>SAY</a:t>
            </a:r>
          </a:p>
          <a:p>
            <a:r>
              <a:t>  - Table slide. Walk the three rows.</a:t>
            </a:r>
          </a:p>
          <a:p>
            <a:r>
              <a:t>  - Mean: when values cluster with no long tail. Median: when a few large values are pulling the average.</a:t>
            </a:r>
          </a:p>
          <a:p>
            <a:r>
              <a:t>  - The third row is the actual takeaway — ₹1.80L against ₹0.79L, 2.3× apart, and at that gap quoting the mean overstates.</a:t>
            </a:r>
          </a:p>
          <a:p>
            <a:r>
              <a:t>  - Give the portable rule again: check the ratio before you open your mouth. Above 1.3, use the median or say both.</a:t>
            </a:r>
          </a:p>
          <a:p>
            <a:endParaRPr/>
          </a:p>
          <a:p>
            <a:r>
              <a:t>ASK THE ROOM</a:t>
            </a:r>
          </a:p>
          <a:p>
            <a:r>
              <a:t>  "What is the mean-to-median ratio on the number you report most often? Do you know?"</a:t>
            </a:r>
          </a:p>
          <a:p>
            <a:endParaRPr/>
          </a:p>
          <a:p>
            <a:r>
              <a:t>~3m  ·  NEXT: Distortion 3 — calendar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Calendar read as performance. Seasonality wearing a performance costume.</a:t>
            </a:r>
          </a:p>
          <a:p>
            <a:endParaRPr/>
          </a:p>
          <a:p>
            <a:r>
              <a:t>SAY</a:t>
            </a:r>
          </a:p>
          <a:p>
            <a:r>
              <a:t>  - Point at the swing. This file moves threefold between July and October, and none of that is performance.</a:t>
            </a:r>
          </a:p>
          <a:p>
            <a:r>
              <a:t>  - Say the trap: somebody reports a month-on-month drop and a team gets a hard conversation about a number that was the calendar.</a:t>
            </a:r>
          </a:p>
          <a:p>
            <a:r>
              <a:t>  - Real one from your own data: a colleague asked for 'category-wise revenue for YTD July'26 vs last year YTD July'25.' That is exactly right — same window, both years. Praise that pattern, it is the fix.</a:t>
            </a:r>
          </a:p>
          <a:p>
            <a:endParaRPr/>
          </a:p>
          <a:p>
            <a:r>
              <a:t>~2m  ·  NEXT: Which growth comparison to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Year on year is your default. Month on month is a signal, not a number you report.</a:t>
            </a:r>
          </a:p>
          <a:p>
            <a:endParaRPr/>
          </a:p>
          <a:p>
            <a:r>
              <a:t>SAY</a:t>
            </a:r>
          </a:p>
          <a:p>
            <a:r>
              <a:t>  - Rule 1 — year on year cancels seasonality. Make it the default and say why.</a:t>
            </a:r>
          </a:p>
          <a:p>
            <a:r>
              <a:t>  - Rule 2 — month on month is fast and very noisy. Then the hard prohibition: never multiply it by 12 to get an annual rate. Say that twice.</a:t>
            </a:r>
          </a:p>
          <a:p>
            <a:r>
              <a:t>  - Rule 3 — a part-finished month. Exclude it, or put the day count right next to the number. Never silently include it.</a:t>
            </a:r>
          </a:p>
          <a:p>
            <a:r>
              <a:t>  - This is the most immediately reusable slide in Module 4. Tell them so.</a:t>
            </a:r>
          </a:p>
          <a:p>
            <a:endParaRPr/>
          </a:p>
          <a:p>
            <a:r>
              <a:t>ASK THE ROOM</a:t>
            </a:r>
          </a:p>
          <a:p>
            <a:r>
              <a:t>  "Has anyone here annualised a monthly number this quarter?"</a:t>
            </a:r>
          </a:p>
          <a:p>
            <a:endParaRPr/>
          </a:p>
          <a:p>
            <a:r>
              <a:t>~4m  ·  NEXT: Distortion 4 — tiny samples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A percentage on a tiny sample is a headline waiting to embarrass you.</a:t>
            </a:r>
          </a:p>
          <a:p>
            <a:endParaRPr/>
          </a:p>
          <a:p>
            <a:r>
              <a:t>SAY</a:t>
            </a:r>
          </a:p>
          <a:p>
            <a:r>
              <a:t>  - Walk the chart. '100% growth' on two orders becoming four.</a:t>
            </a:r>
          </a:p>
          <a:p>
            <a:r>
              <a:t>  - The rule to give them: always show the denominator next to the percentage. Always.</a:t>
            </a:r>
          </a:p>
          <a:p>
            <a:r>
              <a:t>  - '67% of respondents' means nothing until you know it was three people out of four.</a:t>
            </a:r>
          </a:p>
          <a:p>
            <a:r>
              <a:t>  - Quick habit: if n is under 30, quote the count, not the percentage.</a:t>
            </a:r>
          </a:p>
          <a:p>
            <a:endParaRPr/>
          </a:p>
          <a:p>
            <a:r>
              <a:t>~3m  ·  NEXT: Distortion 5 — correlation as cause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Two series moving together is the beginning of the work, not the end.</a:t>
            </a:r>
          </a:p>
          <a:p>
            <a:endParaRPr/>
          </a:p>
          <a:p>
            <a:r>
              <a:t>SAY</a:t>
            </a:r>
          </a:p>
          <a:p>
            <a:r>
              <a:t>  - Ice cream and drowning. Get the laugh, then immediately make it serious.</a:t>
            </a:r>
          </a:p>
          <a:p>
            <a:r>
              <a:t>  - Summer drives both. There is always a third thing, and finding it is the job.</a:t>
            </a:r>
          </a:p>
          <a:p>
            <a:r>
              <a:t>  - Walk the three moves: what else changed in that window; say whether you observed it or inferred it; go looking for the third thing.</a:t>
            </a:r>
          </a:p>
          <a:p>
            <a:r>
              <a:t>  - OBSERVED or INFERRED — two words, and they change how the room treats the claim. Callback to slide 32.</a:t>
            </a:r>
          </a:p>
          <a:p>
            <a:r>
              <a:t>  - Callback to Lens 6 so the deck holds together.</a:t>
            </a:r>
          </a:p>
          <a:p>
            <a:endParaRPr/>
          </a:p>
          <a:p>
            <a:r>
              <a:t>ASK THE ROOM</a:t>
            </a:r>
          </a:p>
          <a:p>
            <a:r>
              <a:t>  "Say your last causal claim out loud. Observed, or inferred?"</a:t>
            </a:r>
          </a:p>
          <a:p>
            <a:endParaRPr/>
          </a:p>
          <a:p>
            <a:r>
              <a:t>~4m  ·  NEXT: War story — platform consolidation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Distortion 6 is the undefined metric. Cheapest to fix, and nobody owns it.</a:t>
            </a:r>
          </a:p>
          <a:p>
            <a:endParaRPr/>
          </a:p>
          <a:p>
            <a:r>
              <a:t>SAY</a:t>
            </a:r>
          </a:p>
          <a:p>
            <a:r>
              <a:t>  - Three tools, three versions of the same metric. Teams quoted whichever one they had access to.</a:t>
            </a:r>
          </a:p>
          <a:p>
            <a:r>
              <a:t>  - The detail that lands: meetings were spent reconciling numbers instead of deciding anything. Everyone here has sat in that meeting.</a:t>
            </a:r>
          </a:p>
          <a:p>
            <a:r>
              <a:t>  - Six months to consolidate. ₹2.5 Cr a year in retired tooling. The reporting improvement was almost a side effect.</a:t>
            </a:r>
          </a:p>
          <a:p>
            <a:r>
              <a:t>  - REAL BCCL PARALLEL — a colleague this month: 'the report is not correct, exclude the not-to-consider line items.' And another: 'why is rate coming as Rs 90? it should be taxable amount divided by qty divided by 1000, times damage qty, times 110%.' Both are the same thing: the metric was never defined in writing.</a:t>
            </a:r>
          </a:p>
          <a:p>
            <a:r>
              <a:t>  - Close with the action, and make it small enough to actually do: write your top three metrics down, in one sentence each, and get someone to disagree with you.</a:t>
            </a:r>
          </a:p>
          <a:p>
            <a:endParaRPr/>
          </a:p>
          <a:p>
            <a:r>
              <a:t>ASK THE ROOM</a:t>
            </a:r>
          </a:p>
          <a:p>
            <a:r>
              <a:t>  "Name a metric your team defines two different ways."</a:t>
            </a:r>
          </a:p>
          <a:p>
            <a:endParaRPr/>
          </a:p>
          <a:p>
            <a:r>
              <a:t>~4m  ·  NEXT: Module 5 — The Five-Check Gate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The tool will run your code perfectly and still answer the wrong question.</a:t>
            </a:r>
          </a:p>
          <a:p>
            <a:endParaRPr/>
          </a:p>
          <a:p>
            <a:r>
              <a:t>SAY</a:t>
            </a:r>
          </a:p>
          <a:p>
            <a:r>
              <a:t>  - Divider. This is the module that keeps them out of trouble, so give it weight.</a:t>
            </a:r>
          </a:p>
          <a:p>
            <a:r>
              <a:t>  - The framing sentence is on the slide and it is the best line in the deck — read it as written.</a:t>
            </a:r>
          </a:p>
          <a:p>
            <a:r>
              <a:t>  - Fifteen minutes.</a:t>
            </a:r>
          </a:p>
          <a:p>
            <a:endParaRPr/>
          </a:p>
          <a:p>
            <a:r>
              <a:t>~1m  ·  NEXT: Where accuracy actually falls 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The failure mode moved from arithmetic to aim. Nothing in the output tells you the aim was wrong.</a:t>
            </a:r>
          </a:p>
          <a:p>
            <a:endParaRPr/>
          </a:p>
          <a:p>
            <a:r>
              <a:t>SAY</a:t>
            </a:r>
          </a:p>
          <a:p>
            <a:r>
              <a:t>  - Open with the sentence: a groupby on the wrong column runs perfectly. Clean table, tidy chart, confident summary.</a:t>
            </a:r>
          </a:p>
          <a:p>
            <a:r>
              <a:t>  - Then the numbers. Do not read all six — read the shape: lookups 89%, and it falls off a cliff from there. Medians 20%.</a:t>
            </a:r>
          </a:p>
          <a:p>
            <a:r>
              <a:t>  - The rule to leave them with: lookups come back right. Anything that needs arithmetic across rows, check it yourself.</a:t>
            </a:r>
          </a:p>
          <a:p>
            <a:r>
              <a:t>  - Be fair and say it: this is not an argument against the tool. It is an argument for the gate on the next slide.</a:t>
            </a:r>
          </a:p>
          <a:p>
            <a:endParaRPr/>
          </a:p>
          <a:p>
            <a:r>
              <a:t>~3m  ·  NEXT: The Five-Check Gate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Five checks, one page. The bar is checkability, not perfection.</a:t>
            </a:r>
          </a:p>
          <a:p>
            <a:endParaRPr/>
          </a:p>
          <a:p>
            <a:r>
              <a:t>SAY</a:t>
            </a:r>
          </a:p>
          <a:p>
            <a:r>
              <a:t>  - Lead with the 94% stat — most working spreadsheets already carry a human error. This is not about being perfect.</a:t>
            </a:r>
          </a:p>
          <a:p>
            <a:r>
              <a:t>  - Check 1, row accounting — ask how many rows it used, compare to the file.</a:t>
            </a:r>
          </a:p>
          <a:p>
            <a:r>
              <a:t>  - REAL EXAMPLE, use it here, it is the best one you have: a colleague wrote this month — 'How are you getting an overdue list of 637 vendors, however I am getting 652? Please recheck.' They caught a 15-row gap by counting. That is Check 1, done by someone in this building, and it worked.</a:t>
            </a:r>
          </a:p>
          <a:p>
            <a:r>
              <a:t>  - Check 2, spot-verify the headline. One number, the one that matters, against the source.</a:t>
            </a:r>
          </a:p>
          <a:p>
            <a:r>
              <a:t>  - Check 3, ask it a second way. Different phrasing, same question. Two answers means you have none.</a:t>
            </a:r>
          </a:p>
          <a:p>
            <a:r>
              <a:t>  - Check 4, open what it made you. Generated files look finished early. Look at the axis, read the labels.</a:t>
            </a:r>
          </a:p>
          <a:p>
            <a:r>
              <a:t>  - Check 5, sign it. 'Would you put your name on this? You are about to.' Say that and stop.</a:t>
            </a:r>
          </a:p>
          <a:p>
            <a:r>
              <a:t>  - Remind them: only 16% of the sessions I pulled ever challenged a number. These five checks put you in that 16%.</a:t>
            </a:r>
          </a:p>
          <a:p>
            <a:endParaRPr/>
          </a:p>
          <a:p>
            <a:r>
              <a:t>ASK THE ROOM</a:t>
            </a:r>
          </a:p>
          <a:p>
            <a:r>
              <a:t>  "Which of the five do you skip most? Be honest."</a:t>
            </a:r>
          </a:p>
          <a:p>
            <a:endParaRPr/>
          </a:p>
          <a:p>
            <a:r>
              <a:t>~6m  ·  NEXT: Hands-on block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Ten minutes. They run the gate on their own finding and write one sentence.</a:t>
            </a:r>
          </a:p>
          <a:p>
            <a:endParaRPr/>
          </a:p>
          <a:p>
            <a:r>
              <a:t>SAY</a:t>
            </a:r>
          </a:p>
          <a:p>
            <a:r>
              <a:t>  - Read the three steps, set a timer, stop talking.</a:t>
            </a:r>
          </a:p>
          <a:p>
            <a:r>
              <a:t>  - The third step is the real exercise: rewrite it as one sentence your manager could act on.</a:t>
            </a:r>
          </a:p>
          <a:p>
            <a:r>
              <a:t>  - Coach the sentence shape if they stall: [what is true] + [by how much] + [what to do] + [the caveat].</a:t>
            </a:r>
          </a:p>
          <a:p>
            <a:r>
              <a:t>  - Warn them at two minutes.</a:t>
            </a:r>
          </a:p>
          <a:p>
            <a:r>
              <a:t>  - Collect four or five from the chat. Read them out. Improve one live — that is the most valuable ninety seconds of the session.</a:t>
            </a:r>
          </a:p>
          <a:p>
            <a:endParaRPr/>
          </a:p>
          <a:p>
            <a:r>
              <a:t>ASK THE ROOM</a:t>
            </a:r>
          </a:p>
          <a:p>
            <a:r>
              <a:t>  "Post in the chat: your one sentence."</a:t>
            </a:r>
          </a:p>
          <a:p>
            <a:endParaRPr/>
          </a:p>
          <a:p>
            <a:r>
              <a:t>~10m  ·  NEXT: The five cards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Five cards. This is what they physically leave with.</a:t>
            </a:r>
          </a:p>
          <a:p>
            <a:endParaRPr/>
          </a:p>
          <a:p>
            <a:r>
              <a:t>SAY</a:t>
            </a:r>
          </a:p>
          <a:p>
            <a:r>
              <a:t>  - Recap slide. Walk down it at pace — you are refreshing, not teaching.</a:t>
            </a:r>
          </a:p>
          <a:p>
            <a:r>
              <a:t>  - For each card, say the one-line version and nothing more.</a:t>
            </a:r>
          </a:p>
          <a:p>
            <a:r>
              <a:t>  - Then the promise: all five go out as a one-page PDF, plus the eight prompts, plus the practice file.</a:t>
            </a:r>
          </a:p>
          <a:p>
            <a:r>
              <a:t>  - Say when they will arrive, and then actually send them.</a:t>
            </a:r>
          </a:p>
          <a:p>
            <a:endParaRPr/>
          </a:p>
          <a:p>
            <a:r>
              <a:t>~3m  ·  NEXT: Close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TAKEAWAY — You now have a sequence for the thing that used to be a bad evening.</a:t>
            </a:r>
          </a:p>
          <a:p>
            <a:endParaRPr/>
          </a:p>
          <a:p>
            <a:r>
              <a:t>SAY</a:t>
            </a:r>
          </a:p>
          <a:p>
            <a:r>
              <a:t>  - Return to the opening image, deliberately. Same words as slide 1.</a:t>
            </a:r>
          </a:p>
          <a:p>
            <a:r>
              <a:t>  - Pause after 'by tomorrow morning.'</a:t>
            </a:r>
          </a:p>
          <a:p>
            <a:r>
              <a:t>  - Then: 'You now have a sequence for that.' Let it sit.</a:t>
            </a:r>
          </a:p>
          <a:p>
            <a:r>
              <a:t>  - Do not add a summary. Do not add a thank-you slide. This is the end.</a:t>
            </a:r>
          </a:p>
          <a:p>
            <a:r>
              <a:t>  - Take questions after this slide, not before it.</a:t>
            </a:r>
          </a:p>
          <a:p>
            <a:r>
              <a:t>  - Send the pack within the hour, while the session is still live in their heads.</a:t>
            </a:r>
          </a:p>
          <a:p>
            <a:endParaRPr/>
          </a:p>
          <a:p>
            <a:r>
              <a:t>~2m + 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AUREX  ·  BCCL’S SECURE AI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81328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1848"/>
              </a:spcAft>
              <a:defRPr sz="6600" b="1">
                <a:solidFill>
                  <a:srgbClr val="121111"/>
                </a:solidFill>
                <a:latin typeface="Helvetica Neue"/>
              </a:defRPr>
            </a:pPr>
            <a:r>
              <a:rPr spc="-160"/>
              <a:t>Reading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27248"/>
            <a:ext cx="9326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588"/>
              </a:spcAft>
              <a:defRPr sz="2100" b="0">
                <a:solidFill>
                  <a:srgbClr val="5F5D5C"/>
                </a:solidFill>
                <a:latin typeface="Helvetica Neue"/>
              </a:defRPr>
            </a:pPr>
            <a:r>
              <a:t>A working method for getting from a spreadsheet you did not build</a:t>
            </a:r>
          </a:p>
          <a:p>
            <a:pPr algn="l">
              <a:lnSpc>
                <a:spcPct val="134000"/>
              </a:lnSpc>
              <a:spcAft>
                <a:spcPts val="588"/>
              </a:spcAft>
              <a:defRPr sz="2100" b="0">
                <a:solidFill>
                  <a:srgbClr val="5F5D5C"/>
                </a:solidFill>
                <a:latin typeface="Helvetica Neue"/>
              </a:defRPr>
            </a:pPr>
            <a:r>
              <a:t>to a number you would defend in front of your MD.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407408"/>
            <a:ext cx="2011680" cy="45720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4773168"/>
            <a:ext cx="10469880" cy="106070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4773168"/>
            <a:ext cx="54864" cy="1060704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5071659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1">
                <a:solidFill>
                  <a:srgbClr val="121111"/>
                </a:solidFill>
                <a:latin typeface="Helvetica Neue"/>
              </a:defRPr>
            </a:pPr>
            <a:r>
              <a:rPr spc="90" dirty="0"/>
              <a:t>DISHANT SINGLA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E01E29"/>
                </a:solidFill>
                <a:latin typeface="Helvetica Neue"/>
              </a:defRPr>
            </a:pPr>
            <a:r>
              <a:rPr spc="-30"/>
              <a:t>₹110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3328" y="528523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238"/>
              </a:spcAft>
              <a:defRPr sz="850" b="0">
                <a:solidFill>
                  <a:srgbClr val="8A857F"/>
                </a:solidFill>
                <a:latin typeface="Helvetica Neue"/>
              </a:defRPr>
            </a:pPr>
            <a:r>
              <a:t>ad business on the</a:t>
            </a:r>
          </a:p>
          <a:p>
            <a:pPr algn="l">
              <a:lnSpc>
                <a:spcPct val="116000"/>
              </a:lnSpc>
              <a:spcAft>
                <a:spcPts val="238"/>
              </a:spcAft>
              <a:defRPr sz="850" b="0">
                <a:solidFill>
                  <a:srgbClr val="8A857F"/>
                </a:solidFill>
                <a:latin typeface="Helvetica Neue"/>
              </a:defRPr>
            </a:pPr>
            <a:r>
              <a:t>platform I built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5472" y="4956048"/>
            <a:ext cx="7315" cy="694944"/>
          </a:xfrm>
          <a:prstGeom prst="rect">
            <a:avLst/>
          </a:prstGeom>
          <a:solidFill>
            <a:srgbClr val="D6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88352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E01E29"/>
                </a:solidFill>
                <a:latin typeface="Helvetica Neue"/>
              </a:defRPr>
            </a:pPr>
            <a:r>
              <a:rPr spc="-30"/>
              <a:t>1 Bn+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528523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238"/>
              </a:spcAft>
              <a:defRPr sz="850" b="0">
                <a:solidFill>
                  <a:srgbClr val="8A857F"/>
                </a:solidFill>
                <a:latin typeface="Helvetica Neue"/>
              </a:defRPr>
            </a:pPr>
            <a:r>
              <a:t>ad impressions</a:t>
            </a:r>
          </a:p>
          <a:p>
            <a:pPr algn="l">
              <a:lnSpc>
                <a:spcPct val="116000"/>
              </a:lnSpc>
              <a:spcAft>
                <a:spcPts val="238"/>
              </a:spcAft>
              <a:defRPr sz="850" b="0">
                <a:solidFill>
                  <a:srgbClr val="8A857F"/>
                </a:solidFill>
                <a:latin typeface="Helvetica Neue"/>
              </a:defRPr>
            </a:pPr>
            <a:r>
              <a:t>a month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0496" y="4956048"/>
            <a:ext cx="7315" cy="694944"/>
          </a:xfrm>
          <a:prstGeom prst="rect">
            <a:avLst/>
          </a:prstGeom>
          <a:solidFill>
            <a:srgbClr val="D6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23376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E01E29"/>
                </a:solidFill>
                <a:latin typeface="Helvetica Neue"/>
              </a:defRPr>
            </a:pPr>
            <a:r>
              <a:rPr spc="-30"/>
              <a:t>200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23376" y="528523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238"/>
              </a:spcAft>
              <a:defRPr sz="850" b="0">
                <a:solidFill>
                  <a:srgbClr val="8A857F"/>
                </a:solidFill>
                <a:latin typeface="Helvetica Neue"/>
              </a:defRPr>
            </a:pPr>
            <a:r>
              <a:t>monthly active</a:t>
            </a:r>
          </a:p>
          <a:p>
            <a:pPr algn="l">
              <a:lnSpc>
                <a:spcPct val="116000"/>
              </a:lnSpc>
              <a:spcAft>
                <a:spcPts val="238"/>
              </a:spcAft>
              <a:defRPr sz="850" b="0">
                <a:solidFill>
                  <a:srgbClr val="8A857F"/>
                </a:solidFill>
                <a:latin typeface="Helvetica Neue"/>
              </a:defRPr>
            </a:pPr>
            <a:r>
              <a:t>users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4956048"/>
            <a:ext cx="7315" cy="694944"/>
          </a:xfrm>
          <a:prstGeom prst="rect">
            <a:avLst/>
          </a:prstGeom>
          <a:solidFill>
            <a:srgbClr val="D6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0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E01E29"/>
                </a:solidFill>
                <a:latin typeface="Helvetica Neue"/>
              </a:defRPr>
            </a:pPr>
            <a:r>
              <a:rPr spc="-30"/>
              <a:t>120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528523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Aft>
                <a:spcPts val="238"/>
              </a:spcAft>
              <a:defRPr sz="850" b="0">
                <a:solidFill>
                  <a:srgbClr val="8A857F"/>
                </a:solidFill>
                <a:latin typeface="Helvetica Neue"/>
              </a:defRPr>
            </a:pPr>
            <a:r>
              <a:t>Ola customer</a:t>
            </a:r>
          </a:p>
          <a:p>
            <a:pPr algn="l">
              <a:lnSpc>
                <a:spcPct val="116000"/>
              </a:lnSpc>
              <a:spcAft>
                <a:spcPts val="238"/>
              </a:spcAft>
              <a:defRPr sz="850" b="0">
                <a:solidFill>
                  <a:srgbClr val="8A857F"/>
                </a:solidFill>
                <a:latin typeface="Helvetica Neue"/>
              </a:defRPr>
            </a:pPr>
            <a:r>
              <a:t>profiles built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E01E29"/>
                </a:solidFill>
                <a:latin typeface="Helvetica Neue"/>
              </a:defRPr>
            </a:pPr>
            <a:r>
              <a:rPr spc="150"/>
              <a:t>WHO IS RUNNING THIS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97280"/>
            <a:ext cx="6949440" cy="119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784"/>
              </a:spcAft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rPr spc="-60" dirty="0"/>
              <a:t>I have spent </a:t>
            </a:r>
            <a:r>
              <a:rPr lang="en-US" spc="-60" dirty="0"/>
              <a:t>ten</a:t>
            </a:r>
            <a:r>
              <a:rPr spc="-60" dirty="0"/>
              <a:t> years building</a:t>
            </a:r>
          </a:p>
          <a:p>
            <a:pPr algn="l">
              <a:lnSpc>
                <a:spcPct val="122000"/>
              </a:lnSpc>
              <a:spcAft>
                <a:spcPts val="784"/>
              </a:spcAft>
              <a:defRPr sz="2800" b="1">
                <a:solidFill>
                  <a:srgbClr val="FFFFFF"/>
                </a:solidFill>
                <a:latin typeface="Helvetica Neue"/>
              </a:defRPr>
            </a:pPr>
            <a:r>
              <a:rPr spc="-60" dirty="0"/>
              <a:t>the systems these numbers come out 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70048"/>
            <a:ext cx="6766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4000"/>
              </a:lnSpc>
              <a:spcAft>
                <a:spcPts val="434"/>
              </a:spcAft>
              <a:defRPr sz="1550" b="0">
                <a:solidFill>
                  <a:srgbClr val="C4BEB8"/>
                </a:solidFill>
                <a:latin typeface="Helvetica Neue"/>
              </a:defRPr>
            </a:pPr>
            <a:r>
              <a:t>Ola, Koo, Khatabook, Wealthy, HT Media. Customer data platforms, identity resolution, recommendation systems, ad targeting. Most recently the central data platform at HT Digital Streams, sitting under a ₹110 crore a year ad business.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24528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8000"/>
              </a:lnSpc>
              <a:spcAft>
                <a:spcPts val="406"/>
              </a:spcAft>
              <a:defRPr sz="1450" b="0">
                <a:solidFill>
                  <a:srgbClr val="C79A2F"/>
                </a:solidFill>
                <a:latin typeface="Helvetica Neue"/>
              </a:defRPr>
            </a:pPr>
            <a:r>
              <a:t>Every trap in this session is one I have shipped, been burned by, or caught in review. That is the only reason it is in 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3568" y="1097280"/>
            <a:ext cx="3364992" cy="4718304"/>
          </a:xfrm>
          <a:prstGeom prst="rect">
            <a:avLst/>
          </a:prstGeom>
          <a:solidFill>
            <a:srgbClr val="262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73568" y="1097280"/>
            <a:ext cx="50292" cy="4718304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84464" y="13533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E01E29"/>
                </a:solidFill>
                <a:latin typeface="Helvetica Neue"/>
              </a:defRPr>
            </a:pPr>
            <a:r>
              <a:rPr spc="120"/>
              <a:t>AT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4464" y="171907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46"/>
              </a:spcAft>
              <a:defRPr sz="1950" b="1">
                <a:solidFill>
                  <a:srgbClr val="FFFFFF"/>
                </a:solidFill>
                <a:latin typeface="Helvetica Neue"/>
              </a:defRPr>
            </a:pPr>
            <a:r>
              <a:rPr spc="-50"/>
              <a:t>₹110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084831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94"/>
              </a:spcAft>
              <a:defRPr sz="1050" b="0">
                <a:solidFill>
                  <a:srgbClr val="A8A19A"/>
                </a:solidFill>
                <a:latin typeface="Helvetica Neue"/>
              </a:defRPr>
            </a:pPr>
            <a:r>
              <a:t>ad revenue running on the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240944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46"/>
              </a:spcAft>
              <a:defRPr sz="1950" b="1">
                <a:solidFill>
                  <a:srgbClr val="FFFFFF"/>
                </a:solidFill>
                <a:latin typeface="Helvetica Neue"/>
              </a:defRPr>
            </a:pPr>
            <a:r>
              <a:rPr spc="-50"/>
              <a:t>1 Bn+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775203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94"/>
              </a:spcAft>
              <a:defRPr sz="1050" b="0">
                <a:solidFill>
                  <a:srgbClr val="A8A19A"/>
                </a:solidFill>
                <a:latin typeface="Helvetica Neue"/>
              </a:defRPr>
            </a:pPr>
            <a:r>
              <a:t>ad impressions a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099815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46"/>
              </a:spcAft>
              <a:defRPr sz="1950" b="1">
                <a:solidFill>
                  <a:srgbClr val="FFFFFF"/>
                </a:solidFill>
                <a:latin typeface="Helvetica Neue"/>
              </a:defRPr>
            </a:pPr>
            <a:r>
              <a:rPr spc="-50"/>
              <a:t>200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3465575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94"/>
              </a:spcAft>
              <a:defRPr sz="1050" b="0">
                <a:solidFill>
                  <a:srgbClr val="A8A19A"/>
                </a:solidFill>
                <a:latin typeface="Helvetica Neue"/>
              </a:defRPr>
            </a:pPr>
            <a:r>
              <a:t>monthly active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3790187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46"/>
              </a:spcAft>
              <a:defRPr sz="1950" b="1">
                <a:solidFill>
                  <a:srgbClr val="FFFFFF"/>
                </a:solidFill>
                <a:latin typeface="Helvetica Neue"/>
              </a:defRPr>
            </a:pPr>
            <a:r>
              <a:rPr spc="-50"/>
              <a:t>120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415594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94"/>
              </a:spcAft>
              <a:defRPr sz="1050" b="0">
                <a:solidFill>
                  <a:srgbClr val="A8A19A"/>
                </a:solidFill>
                <a:latin typeface="Helvetica Neue"/>
              </a:defRPr>
            </a:pPr>
            <a:r>
              <a:t>Ola customer profiles built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4480559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46"/>
              </a:spcAft>
              <a:defRPr sz="1950" b="1">
                <a:solidFill>
                  <a:srgbClr val="FFFFFF"/>
                </a:solidFill>
                <a:latin typeface="Helvetica Neue"/>
              </a:defRPr>
            </a:pPr>
            <a:r>
              <a:rPr spc="-50"/>
              <a:t>₹2.5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4846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94"/>
              </a:spcAft>
              <a:defRPr sz="1050" b="0">
                <a:solidFill>
                  <a:srgbClr val="A8A19A"/>
                </a:solidFill>
                <a:latin typeface="Helvetica Neue"/>
              </a:defRPr>
            </a:pPr>
            <a:r>
              <a:t>a year in retired tooling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5170931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46"/>
              </a:spcAft>
              <a:defRPr sz="1950" b="1">
                <a:solidFill>
                  <a:srgbClr val="FFFFFF"/>
                </a:solidFill>
                <a:latin typeface="Helvetica Neue"/>
              </a:defRPr>
            </a:pPr>
            <a:r>
              <a:rPr spc="-50"/>
              <a:t>60%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55366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94"/>
              </a:spcAft>
              <a:defRPr sz="1050" b="0">
                <a:solidFill>
                  <a:srgbClr val="A8A19A"/>
                </a:solidFill>
                <a:latin typeface="Helvetica Neue"/>
              </a:defRPr>
            </a:pPr>
            <a:r>
              <a:t>duplicate IDs eliminated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Five frameworks, one file, and the cards to run them again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Everything in this session is designed to be reusable on Monday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2029967"/>
            <a:ext cx="1975104" cy="2286000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2029967"/>
            <a:ext cx="1975104" cy="50292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8136" y="22677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16"/>
              </a:spcAft>
              <a:defRPr sz="2200" b="1">
                <a:solidFill>
                  <a:srgbClr val="E01E29"/>
                </a:solidFill>
                <a:latin typeface="Helvetica Neue"/>
              </a:defRPr>
            </a:pPr>
            <a:r>
              <a:rPr spc="-60"/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72491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  <a:defRPr sz="1250" b="1">
                <a:solidFill>
                  <a:srgbClr val="121111"/>
                </a:solidFill>
                <a:latin typeface="Helvetica Neue"/>
              </a:defRPr>
            </a:pPr>
            <a:r>
              <a:t>THE SEVEN-STEP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3584448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294"/>
              </a:spcAft>
              <a:defRPr sz="1050" b="0">
                <a:solidFill>
                  <a:srgbClr val="5F5D5C"/>
                </a:solidFill>
                <a:latin typeface="Helvetica Neue"/>
              </a:defRPr>
            </a:pPr>
            <a:r>
              <a:t>The sequence for any unfamiliar 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2029967"/>
            <a:ext cx="1975104" cy="2286000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71800" y="2029967"/>
            <a:ext cx="1975104" cy="50292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91256" y="22677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16"/>
              </a:spcAft>
              <a:defRPr sz="2200" b="1">
                <a:solidFill>
                  <a:srgbClr val="0E8F7A"/>
                </a:solidFill>
                <a:latin typeface="Helvetica Neue"/>
              </a:defRPr>
            </a:pPr>
            <a:r>
              <a:rPr spc="-6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1256" y="272491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  <a:defRPr sz="1250" b="1">
                <a:solidFill>
                  <a:srgbClr val="121111"/>
                </a:solidFill>
                <a:latin typeface="Helvetica Neue"/>
              </a:defRPr>
            </a:pPr>
            <a:r>
              <a:t>THE EIGHT LENSES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1256" y="3584448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294"/>
              </a:spcAft>
              <a:defRPr sz="1050" b="0">
                <a:solidFill>
                  <a:srgbClr val="5F5D5C"/>
                </a:solidFill>
                <a:latin typeface="Helvetica Neue"/>
              </a:defRPr>
            </a:pPr>
            <a:r>
              <a:t>Every question a dataset can answer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2029967"/>
            <a:ext cx="1975104" cy="2286000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74920" y="2029967"/>
            <a:ext cx="1975104" cy="50292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94376" y="22677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16"/>
              </a:spcAft>
              <a:defRPr sz="2200" b="1">
                <a:solidFill>
                  <a:srgbClr val="C79A2F"/>
                </a:solidFill>
                <a:latin typeface="Helvetica Neue"/>
              </a:defRPr>
            </a:pPr>
            <a:r>
              <a:rPr spc="-60"/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376" y="272491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  <a:defRPr sz="1250" b="1">
                <a:solidFill>
                  <a:srgbClr val="121111"/>
                </a:solidFill>
                <a:latin typeface="Helvetica Neue"/>
              </a:defRPr>
            </a:pPr>
            <a:r>
              <a:t>THE CHART SELECTOR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4376" y="3584448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294"/>
              </a:spcAft>
              <a:defRPr sz="1050" b="0">
                <a:solidFill>
                  <a:srgbClr val="5F5D5C"/>
                </a:solidFill>
                <a:latin typeface="Helvetica Neue"/>
              </a:defRPr>
            </a:pPr>
            <a:r>
              <a:t>Say the comparison, get the chart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2029967"/>
            <a:ext cx="1975104" cy="2286000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78040" y="2029967"/>
            <a:ext cx="1975104" cy="50292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97496" y="22677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16"/>
              </a:spcAft>
              <a:defRPr sz="2200" b="1">
                <a:solidFill>
                  <a:srgbClr val="4E79CF"/>
                </a:solidFill>
                <a:latin typeface="Helvetica Neue"/>
              </a:defRPr>
            </a:pPr>
            <a:r>
              <a:rPr spc="-60"/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7496" y="272491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  <a:defRPr sz="1250" b="1">
                <a:solidFill>
                  <a:srgbClr val="121111"/>
                </a:solidFill>
                <a:latin typeface="Helvetica Neue"/>
              </a:defRPr>
            </a:pPr>
            <a:r>
              <a:t>THE SIX DISTORTIONS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7496" y="3584448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294"/>
              </a:spcAft>
              <a:defRPr sz="1050" b="0">
                <a:solidFill>
                  <a:srgbClr val="5F5D5C"/>
                </a:solidFill>
                <a:latin typeface="Helvetica Neue"/>
              </a:defRPr>
            </a:pPr>
            <a:r>
              <a:t>Where confident numbers go wrong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59" y="2029967"/>
            <a:ext cx="1975104" cy="2286000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281159" y="2029967"/>
            <a:ext cx="1975104" cy="50292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0615" y="22677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16"/>
              </a:spcAft>
              <a:defRPr sz="2200" b="1">
                <a:solidFill>
                  <a:srgbClr val="B51D2A"/>
                </a:solidFill>
                <a:latin typeface="Helvetica Neue"/>
              </a:defRPr>
            </a:pPr>
            <a:r>
              <a:rPr spc="-60"/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0615" y="272491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  <a:defRPr sz="1250" b="1">
                <a:solidFill>
                  <a:srgbClr val="121111"/>
                </a:solidFill>
                <a:latin typeface="Helvetica Neue"/>
              </a:defRPr>
            </a:pPr>
            <a:r>
              <a:t>THE FIVE-CHECK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0615" y="3584448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294"/>
              </a:spcAft>
              <a:defRPr sz="1050" b="0">
                <a:solidFill>
                  <a:srgbClr val="5F5D5C"/>
                </a:solidFill>
                <a:latin typeface="Helvetica Neue"/>
              </a:defRPr>
            </a:pPr>
            <a:r>
              <a:t>What to verify before you send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462686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4828031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E01E29"/>
                </a:solidFill>
                <a:latin typeface="Helvetica Neue"/>
              </a:defRPr>
            </a:pPr>
            <a:r>
              <a:rPr spc="110"/>
              <a:t>YOU ALSO LEAVE WITH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17550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20"/>
              </a:spcAft>
              <a:defRPr sz="1500" b="1">
                <a:solidFill>
                  <a:srgbClr val="121111"/>
                </a:solidFill>
                <a:latin typeface="Helvetica Neue"/>
              </a:defRPr>
            </a:pPr>
            <a:r>
              <a:t>The practice 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3,079 rows of real-shaped ad bookings, traps included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17550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20"/>
              </a:spcAft>
              <a:defRPr sz="1500" b="1">
                <a:solidFill>
                  <a:srgbClr val="121111"/>
                </a:solidFill>
                <a:latin typeface="Helvetica Neue"/>
              </a:defRPr>
            </a:pPr>
            <a:r>
              <a:t>Eight prompts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One per lens, written to force checkable 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517550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20"/>
              </a:spcAft>
              <a:defRPr sz="1500" b="1">
                <a:solidFill>
                  <a:srgbClr val="121111"/>
                </a:solidFill>
                <a:latin typeface="Helvetica Neue"/>
              </a:defRPr>
            </a:pPr>
            <a:r>
              <a:t>The gate 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Five checks, one page, stick it on your monitor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One file. Every framework runs on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ad-sales-data.csv  ·  three years of advertising bookings, 2022 to 2024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847088"/>
            <a:ext cx="1975104" cy="113385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847088"/>
            <a:ext cx="50292" cy="1133856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" y="202996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3,079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2487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0">
                <a:solidFill>
                  <a:srgbClr val="8A857F"/>
                </a:solidFill>
                <a:latin typeface="Helvetica Neue"/>
              </a:defRPr>
            </a:pPr>
            <a:r>
              <a:t>rows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847088"/>
            <a:ext cx="1975104" cy="113385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71800" y="1847088"/>
            <a:ext cx="50292" cy="1133856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9544" y="202996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9544" y="2487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0">
                <a:solidFill>
                  <a:srgbClr val="8A857F"/>
                </a:solidFill>
                <a:latin typeface="Helvetica Neue"/>
              </a:defRPr>
            </a:pPr>
            <a:r>
              <a:t>columns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1847088"/>
            <a:ext cx="1975104" cy="113385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74920" y="1847088"/>
            <a:ext cx="50292" cy="1133856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12664" y="202996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2487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0">
                <a:solidFill>
                  <a:srgbClr val="8A857F"/>
                </a:solidFill>
                <a:latin typeface="Helvetica Neue"/>
              </a:defRPr>
            </a:pPr>
            <a:r>
              <a:t>cities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1847088"/>
            <a:ext cx="1975104" cy="113385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78040" y="1847088"/>
            <a:ext cx="50292" cy="1133856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15783" y="202996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2,490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3" y="2487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0">
                <a:solidFill>
                  <a:srgbClr val="8A857F"/>
                </a:solidFill>
                <a:latin typeface="Helvetica Neue"/>
              </a:defRPr>
            </a:pPr>
            <a:r>
              <a:t>confirmed bookings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59" y="1847088"/>
            <a:ext cx="1975104" cy="1133856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81159" y="1847088"/>
            <a:ext cx="50292" cy="1133856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18903" y="2029967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₹44.8 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8903" y="24871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0">
                <a:solidFill>
                  <a:srgbClr val="8A857F"/>
                </a:solidFill>
                <a:latin typeface="Helvetica Neue"/>
              </a:defRPr>
            </a:pPr>
            <a:r>
              <a:t>net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328415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E01E29"/>
                </a:solidFill>
                <a:latin typeface="Helvetica Neue"/>
              </a:defRPr>
            </a:pPr>
            <a:r>
              <a:rPr spc="110"/>
              <a:t>WHAT IS IN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71246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Dates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712464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booked and published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71246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Cities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712464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8 Indian metros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27939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Editions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279392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4 publications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27939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Ad types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4279392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Display, Digital, Classified, and two more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84632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Categories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4846320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10 advertiser sectors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84632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Reps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4846320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30 salespeople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4132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Money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5413248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rate, discount, gross, net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41324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5413248"/>
            <a:ext cx="3749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confirmed, cancelled, pending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" y="6071616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68680" y="6016752"/>
            <a:ext cx="54864" cy="420624"/>
          </a:xfrm>
          <a:prstGeom prst="rect">
            <a:avLst/>
          </a:prstGeom>
          <a:solidFill>
            <a:srgbClr val="E01E29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15568" y="6071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87168" y="6035040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It carries four planted data-quality faults. Finding them is Step 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rPr spc="120"/>
              <a:t>MODULE 1   ·   THE SEVEN-STEP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984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E01E29"/>
                </a:solidFill>
                <a:latin typeface="Helvetica Neue"/>
              </a:defRPr>
            </a:pPr>
            <a:r>
              <a:rPr spc="160"/>
              <a:t>MODULE 1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47088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184"/>
              </a:spcAft>
              <a:defRPr sz="7800" b="1">
                <a:solidFill>
                  <a:srgbClr val="3A3533"/>
                </a:solidFill>
                <a:latin typeface="Helvetica Neue"/>
              </a:defRPr>
            </a:pPr>
            <a:r>
              <a:rPr spc="-200"/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27248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1120"/>
              </a:spcAft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rPr spc="-90"/>
              <a:t>The Seven-Step Read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443984"/>
            <a:ext cx="1828800" cy="45720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9509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504"/>
              </a:spcAft>
              <a:defRPr sz="1800" b="0">
                <a:solidFill>
                  <a:srgbClr val="BCB6B0"/>
                </a:solidFill>
                <a:latin typeface="Helvetica Neue"/>
              </a:defRPr>
            </a:pPr>
            <a:r>
              <a:t>Analysts do not start with the numbers. They start with the decision,</a:t>
            </a:r>
          </a:p>
          <a:p>
            <a:pPr algn="l">
              <a:lnSpc>
                <a:spcPct val="132000"/>
              </a:lnSpc>
              <a:spcAft>
                <a:spcPts val="504"/>
              </a:spcAft>
              <a:defRPr sz="1800" b="0">
                <a:solidFill>
                  <a:srgbClr val="BCB6B0"/>
                </a:solidFill>
                <a:latin typeface="Helvetica Neue"/>
              </a:defRPr>
            </a:pPr>
            <a:r>
              <a:t>then the shape of the file, and only then the arithmetic.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1">
                <a:solidFill>
                  <a:srgbClr val="E01E29"/>
                </a:solidFill>
                <a:latin typeface="Helvetica Neue"/>
              </a:defRPr>
            </a:pPr>
            <a:r>
              <a:rPr spc="110"/>
              <a:t>STEPS 1 TO 7  ·  25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1   ·   THE SEVEN-STEP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THE FRAMEWORK</a:t>
            </a:r>
          </a:p>
        </p:txBody>
      </p:sp>
      <p:pic>
        <p:nvPicPr>
          <p:cNvPr id="6" name="Picture 5" descr="d_pro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277" y="841248"/>
            <a:ext cx="7931141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614416"/>
            <a:ext cx="54864" cy="420624"/>
          </a:xfrm>
          <a:prstGeom prst="rect">
            <a:avLst/>
          </a:prstGeom>
          <a:solidFill>
            <a:srgbClr val="E01E29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56692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5632704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Most people start at step 3. That is how you answer a question nobody asked.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1   ·   THE SEVEN-STEP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Step 1 — CONTEXT: three questions before the file opens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Most weak analysis is a correct answer to a question nobody had.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6112" y="2697480"/>
            <a:ext cx="402336" cy="402336"/>
          </a:xfrm>
          <a:prstGeom prst="ellipse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60604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Who decides, and when?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95351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If you cannot name the person and the date, you are producing trivia.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630168"/>
            <a:ext cx="402336" cy="402336"/>
          </a:xfrm>
          <a:prstGeom prst="ellipse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3538728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Which answer would change the decision?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38862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If every possible finding leads to the same action, do not run the analysis.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4562856"/>
            <a:ext cx="402336" cy="402336"/>
          </a:xfrm>
          <a:prstGeom prst="ellipse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4471416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What is the smallest version you could answer today?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4818888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One metric, one dimension, one period. Widen later if it earns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577840"/>
            <a:ext cx="54864" cy="420624"/>
          </a:xfrm>
          <a:prstGeom prst="rect">
            <a:avLst/>
          </a:prstGeom>
          <a:solidFill>
            <a:srgbClr val="E01E29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563270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5596128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The analysis has not started yet. These three answers make the rest of it worth doing.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1   ·   THE SEVEN-STEP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What Step 1 sounds like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Same file, same tool, two different opening moves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847088"/>
            <a:ext cx="5074920" cy="41148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1847088"/>
            <a:ext cx="50292" cy="4114800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0432" y="2066543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WITHOUT A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432304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88"/>
              </a:spcAft>
              <a:defRPr sz="2100" b="1">
                <a:solidFill>
                  <a:srgbClr val="121111"/>
                </a:solidFill>
                <a:latin typeface="Helvetica Neue"/>
              </a:defRPr>
            </a:pPr>
            <a:r>
              <a:t>“Analyse this file.”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108960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2000"/>
              </a:lnSpc>
              <a:spcAft>
                <a:spcPts val="406"/>
              </a:spcAft>
              <a:defRPr sz="1450" b="0">
                <a:solidFill>
                  <a:srgbClr val="5F5D5C"/>
                </a:solidFill>
                <a:latin typeface="Helvetica Neue"/>
              </a:defRPr>
            </a:pPr>
            <a:r>
              <a:t>Revenue rose 4.3%</a:t>
            </a:r>
          </a:p>
          <a:p>
            <a:pPr algn="l">
              <a:lnSpc>
                <a:spcPct val="152000"/>
              </a:lnSpc>
              <a:spcAft>
                <a:spcPts val="406"/>
              </a:spcAft>
              <a:defRPr sz="1450" b="0">
                <a:solidFill>
                  <a:srgbClr val="5F5D5C"/>
                </a:solidFill>
                <a:latin typeface="Helvetica Neue"/>
              </a:defRPr>
            </a:pPr>
            <a:r>
              <a:t>8 cities represented</a:t>
            </a:r>
          </a:p>
          <a:p>
            <a:pPr algn="l">
              <a:lnSpc>
                <a:spcPct val="152000"/>
              </a:lnSpc>
              <a:spcAft>
                <a:spcPts val="406"/>
              </a:spcAft>
              <a:defRPr sz="1450" b="0">
                <a:solidFill>
                  <a:srgbClr val="5F5D5C"/>
                </a:solidFill>
                <a:latin typeface="Helvetica Neue"/>
              </a:defRPr>
            </a:pPr>
            <a:r>
              <a:t>3,079 rows</a:t>
            </a:r>
          </a:p>
          <a:p>
            <a:pPr algn="l">
              <a:lnSpc>
                <a:spcPct val="152000"/>
              </a:lnSpc>
              <a:spcAft>
                <a:spcPts val="406"/>
              </a:spcAft>
              <a:defRPr sz="1450" b="0">
                <a:solidFill>
                  <a:srgbClr val="5F5D5C"/>
                </a:solidFill>
                <a:latin typeface="Helvetica Neue"/>
              </a:defRPr>
            </a:pPr>
            <a:r>
              <a:t>Q3 shows a dip</a:t>
            </a:r>
          </a:p>
          <a:p>
            <a:pPr algn="l">
              <a:lnSpc>
                <a:spcPct val="152000"/>
              </a:lnSpc>
              <a:spcAft>
                <a:spcPts val="406"/>
              </a:spcAft>
              <a:defRPr sz="1450" b="0">
                <a:solidFill>
                  <a:srgbClr val="5F5D5C"/>
                </a:solidFill>
                <a:latin typeface="Helvetica Neue"/>
              </a:defRPr>
            </a:pPr>
            <a:r>
              <a:t>Average deal ₹1.8 lakh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0432" y="5157216"/>
            <a:ext cx="448056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2" y="5340096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B51D2A"/>
                </a:solidFill>
                <a:latin typeface="Helvetica Neue"/>
              </a:defRPr>
            </a:pPr>
            <a:r>
              <a:t>All of it true. None of it usable.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47088"/>
            <a:ext cx="5074920" cy="4114800"/>
          </a:xfrm>
          <a:prstGeom prst="rect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1847088"/>
            <a:ext cx="50292" cy="4114800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65392" y="2066543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0E8F7A"/>
                </a:solidFill>
                <a:latin typeface="Helvetica Neue"/>
              </a:defRPr>
            </a:pPr>
            <a:r>
              <a:rPr spc="110"/>
              <a:t>WITH A 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432304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532"/>
              </a:spcAft>
              <a:defRPr sz="1900" b="1">
                <a:solidFill>
                  <a:srgbClr val="121111"/>
                </a:solidFill>
                <a:latin typeface="Helvetica Neue"/>
              </a:defRPr>
            </a:pPr>
            <a:r>
              <a:t>“Which two cities should lose</a:t>
            </a:r>
          </a:p>
          <a:p>
            <a:pPr algn="l">
              <a:lnSpc>
                <a:spcPct val="122000"/>
              </a:lnSpc>
              <a:spcAft>
                <a:spcPts val="532"/>
              </a:spcAft>
              <a:defRPr sz="1900" b="1">
                <a:solidFill>
                  <a:srgbClr val="121111"/>
                </a:solidFill>
                <a:latin typeface="Helvetica Neue"/>
              </a:defRPr>
            </a:pPr>
            <a:r>
              <a:t>headcount next quarter?”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3383280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2000"/>
              </a:lnSpc>
              <a:spcAft>
                <a:spcPts val="406"/>
              </a:spcAft>
              <a:defRPr sz="1450" b="0">
                <a:solidFill>
                  <a:srgbClr val="5F5D5C"/>
                </a:solidFill>
                <a:latin typeface="Helvetica Neue"/>
              </a:defRPr>
            </a:pPr>
            <a:r>
              <a:t>One table</a:t>
            </a:r>
          </a:p>
          <a:p>
            <a:pPr algn="l">
              <a:lnSpc>
                <a:spcPct val="152000"/>
              </a:lnSpc>
              <a:spcAft>
                <a:spcPts val="406"/>
              </a:spcAft>
              <a:defRPr sz="1450" b="0">
                <a:solidFill>
                  <a:srgbClr val="5F5D5C"/>
                </a:solidFill>
                <a:latin typeface="Helvetica Neue"/>
              </a:defRPr>
            </a:pPr>
            <a:r>
              <a:t>Revenue per rep, by city</a:t>
            </a:r>
          </a:p>
          <a:p>
            <a:pPr algn="l">
              <a:lnSpc>
                <a:spcPct val="152000"/>
              </a:lnSpc>
              <a:spcAft>
                <a:spcPts val="406"/>
              </a:spcAft>
              <a:defRPr sz="1450" b="0">
                <a:solidFill>
                  <a:srgbClr val="5F5D5C"/>
                </a:solidFill>
                <a:latin typeface="Helvetica Neue"/>
              </a:defRPr>
            </a:pPr>
            <a:r>
              <a:t>Two cities named</a:t>
            </a:r>
          </a:p>
          <a:p>
            <a:pPr algn="l">
              <a:lnSpc>
                <a:spcPct val="152000"/>
              </a:lnSpc>
              <a:spcAft>
                <a:spcPts val="406"/>
              </a:spcAft>
              <a:defRPr sz="1450" b="0">
                <a:solidFill>
                  <a:srgbClr val="5F5D5C"/>
                </a:solidFill>
                <a:latin typeface="Helvetica Neue"/>
              </a:defRPr>
            </a:pPr>
            <a:r>
              <a:t>A caveat about deal mix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65392" y="5157216"/>
            <a:ext cx="448056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5340096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1">
                <a:solidFill>
                  <a:srgbClr val="0E8F7A"/>
                </a:solidFill>
                <a:latin typeface="Helvetica Neue"/>
              </a:defRPr>
            </a:pPr>
            <a:r>
              <a:t>One question, and the file has a job.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1E29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320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1   ·   THE SEVEN-STEP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320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03504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  <a:defRPr sz="2500" b="1">
                <a:solidFill>
                  <a:srgbClr val="121111"/>
                </a:solidFill>
                <a:latin typeface="Helvetica Neue"/>
              </a:defRPr>
            </a:pPr>
            <a:r>
              <a:t>What 153 of your colleagues actually typed into Aurex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52144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1250" b="0">
                <a:solidFill>
                  <a:srgbClr val="8A857F"/>
                </a:solidFill>
                <a:latin typeface="Helvetica Neue"/>
              </a:defRPr>
            </a:pPr>
            <a:r>
              <a:t>1,488 sessions to 27 August 2026.  367 of them opened on a spreadsheet.  This is not a hypothetical.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09344"/>
            <a:ext cx="10469880" cy="10973"/>
          </a:xfrm>
          <a:prstGeom prst="rect">
            <a:avLst/>
          </a:prstGeom>
          <a:solidFill>
            <a:srgbClr val="E4E0D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883664"/>
            <a:ext cx="2377440" cy="1572768"/>
          </a:xfrm>
          <a:prstGeom prst="rect">
            <a:avLst/>
          </a:prstGeom>
          <a:solidFill>
            <a:srgbClr val="F4F0E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1883664"/>
            <a:ext cx="2377440" cy="54864"/>
          </a:xfrm>
          <a:prstGeom prst="rect">
            <a:avLst/>
          </a:prstGeom>
          <a:solidFill>
            <a:srgbClr val="E01E29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206654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4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46%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670048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named no question,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comparison or decision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in the opening message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883664"/>
            <a:ext cx="2377440" cy="1572768"/>
          </a:xfrm>
          <a:prstGeom prst="rect">
            <a:avLst/>
          </a:prstGeom>
          <a:solidFill>
            <a:srgbClr val="F4F0E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66160" y="1883664"/>
            <a:ext cx="2377440" cy="54864"/>
          </a:xfrm>
          <a:prstGeom prst="rect">
            <a:avLst/>
          </a:prstGeom>
          <a:solidFill>
            <a:srgbClr val="E01E29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22192" y="206654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4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46%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2" y="2670048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ended after one turn.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The first answer became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the final answer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883664"/>
            <a:ext cx="2377440" cy="1572768"/>
          </a:xfrm>
          <a:prstGeom prst="rect">
            <a:avLst/>
          </a:prstGeom>
          <a:solidFill>
            <a:srgbClr val="F4F0E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883664"/>
            <a:ext cx="2377440" cy="54864"/>
          </a:xfrm>
          <a:prstGeom prst="rect">
            <a:avLst/>
          </a:prstGeom>
          <a:solidFill>
            <a:srgbClr val="8A857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9672" y="206654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4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41%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670048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spent turns on colour,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font, axis labels and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chart size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883664"/>
            <a:ext cx="2377440" cy="1572768"/>
          </a:xfrm>
          <a:prstGeom prst="rect">
            <a:avLst/>
          </a:prstGeom>
          <a:solidFill>
            <a:srgbClr val="F4F0E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61120" y="1883664"/>
            <a:ext cx="2377440" cy="54864"/>
          </a:xfrm>
          <a:prstGeom prst="rect">
            <a:avLst/>
          </a:prstGeom>
          <a:solidFill>
            <a:srgbClr val="E01E29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17152" y="206654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4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16%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2670048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ever challenged or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verified a number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3712464"/>
            <a:ext cx="10469880" cy="10973"/>
          </a:xfrm>
          <a:prstGeom prst="rect">
            <a:avLst/>
          </a:prstGeom>
          <a:solidFill>
            <a:srgbClr val="E4E0D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39319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  <a:defRPr sz="2000" b="0">
                <a:solidFill>
                  <a:srgbClr val="121111"/>
                </a:solidFill>
                <a:latin typeface="Helvetica Neue"/>
              </a:defRPr>
            </a:pPr>
            <a:r>
              <a:t>Two and a half times more effort went into how the chart looked</a:t>
            </a:r>
          </a:p>
          <a:p>
            <a:pPr algn="l">
              <a:lnSpc>
                <a:spcPct val="132000"/>
              </a:lnSpc>
              <a:spcAft>
                <a:spcPts val="0"/>
              </a:spcAft>
              <a:defRPr sz="2000" b="0">
                <a:solidFill>
                  <a:srgbClr val="121111"/>
                </a:solidFill>
                <a:latin typeface="Helvetica Neue"/>
              </a:defRPr>
            </a:pPr>
            <a:r>
              <a:t>than into whether the number was right.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04748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50" b="1">
                <a:solidFill>
                  <a:srgbClr val="E01E29"/>
                </a:solidFill>
                <a:latin typeface="Helvetica Neue"/>
              </a:defRPr>
            </a:pPr>
            <a:r>
              <a:rPr spc="110"/>
              <a:t>ACTUAL OPENING MESSAGES, VERBATIM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5358384"/>
            <a:ext cx="10469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68680" y="5358384"/>
            <a:ext cx="54864" cy="621792"/>
          </a:xfrm>
          <a:prstGeom prst="rect">
            <a:avLst/>
          </a:prstGeom>
          <a:solidFill>
            <a:srgbClr val="8A857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70432" y="5458968"/>
            <a:ext cx="10012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"create a dashboard for analysis"    "Analyse the file"    "prepare excel dynamic dashboard"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"make a dashboard in which this excel is underlying data"    "PLEASE ANALYSIS BOTH FINANCIALS"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1   ·   THE SEVEN-STEP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STEP 2 — SHAPE: WHAT DID THE FILE ACTUALLY ARRIVE AS</a:t>
            </a:r>
          </a:p>
        </p:txBody>
      </p:sp>
      <p:pic>
        <p:nvPicPr>
          <p:cNvPr id="6" name="Picture 5" descr="s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765" y="841248"/>
            <a:ext cx="9114166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614416"/>
            <a:ext cx="54864" cy="420624"/>
          </a:xfrm>
          <a:prstGeom prst="rect">
            <a:avLst/>
          </a:prstGeom>
          <a:solidFill>
            <a:srgbClr val="E01E29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56692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5632704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Answer “what is one row?” first. Every number you produce inherits that answer.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1   ·   THE SEVEN-STEP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242819"/>
            <a:ext cx="10561320" cy="1823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120"/>
              </a:spcAft>
              <a:defRPr sz="40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Spend the first two minutes</a:t>
            </a:r>
          </a:p>
          <a:p>
            <a:pPr algn="l">
              <a:lnSpc>
                <a:spcPct val="120000"/>
              </a:lnSpc>
              <a:spcAft>
                <a:spcPts val="1120"/>
              </a:spcAft>
              <a:defRPr sz="40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on what the file 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002532"/>
            <a:ext cx="1371600" cy="32004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24942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504"/>
              </a:spcAft>
              <a:defRPr sz="1800" b="0">
                <a:solidFill>
                  <a:srgbClr val="5F5D5C"/>
                </a:solidFill>
                <a:latin typeface="Helvetica Neue"/>
              </a:defRPr>
            </a:pPr>
            <a:r>
              <a:t>Somebody filtered it, named the columns and decided what to leave out before it reached you. Those decisions are now your assumptions, whether you look at them or not.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984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0E8F7A"/>
                </a:solidFill>
                <a:latin typeface="Helvetica Neue"/>
              </a:defRPr>
            </a:pPr>
            <a:r>
              <a:rPr spc="160"/>
              <a:t>MODULE 2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47088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184"/>
              </a:spcAft>
              <a:defRPr sz="7800" b="1">
                <a:solidFill>
                  <a:srgbClr val="3A3533"/>
                </a:solidFill>
                <a:latin typeface="Helvetica Neue"/>
              </a:defRPr>
            </a:pPr>
            <a:r>
              <a:rPr spc="-200"/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27248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1120"/>
              </a:spcAft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rPr spc="-90"/>
              <a:t>The Eight Lenses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443984"/>
            <a:ext cx="1828800" cy="45720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9509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504"/>
              </a:spcAft>
              <a:defRPr sz="1800" b="0">
                <a:solidFill>
                  <a:srgbClr val="BCB6B0"/>
                </a:solidFill>
                <a:latin typeface="Helvetica Neue"/>
              </a:defRPr>
            </a:pPr>
            <a:r>
              <a:t>Almost every question you will be handed is one of these eight.</a:t>
            </a:r>
          </a:p>
          <a:p>
            <a:pPr algn="l">
              <a:lnSpc>
                <a:spcPct val="132000"/>
              </a:lnSpc>
              <a:spcAft>
                <a:spcPts val="504"/>
              </a:spcAft>
              <a:defRPr sz="1800" b="0">
                <a:solidFill>
                  <a:srgbClr val="BCB6B0"/>
                </a:solidFill>
                <a:latin typeface="Helvetica Neue"/>
              </a:defRPr>
            </a:pPr>
            <a:r>
              <a:t>Naming the lens tells you the cut, the chart, and the trap to check.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1">
                <a:solidFill>
                  <a:srgbClr val="0E8F7A"/>
                </a:solidFill>
                <a:latin typeface="Helvetica Neue"/>
              </a:defRPr>
            </a:pPr>
            <a:r>
              <a:rPr spc="110"/>
              <a:t>LENSES 1 TO 8  ·  40 MINUTES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The Eight Lenses, on one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Photograph this. Naming the lens gives you the cut, the chart and the trap — three decisions from one word.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0E8F7A"/>
                </a:solidFill>
                <a:latin typeface="Helvetica Neue"/>
              </a:defRPr>
            </a:pPr>
            <a:r>
              <a:rPr spc="110"/>
              <a:t>LENS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52344" y="1755648"/>
            <a:ext cx="3099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0E8F7A"/>
                </a:solidFill>
                <a:latin typeface="Helvetica Neue"/>
              </a:defRPr>
            </a:pPr>
            <a:r>
              <a:rPr spc="110"/>
              <a:t>THE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8464" y="1755648"/>
            <a:ext cx="2578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0E8F7A"/>
                </a:solidFill>
                <a:latin typeface="Helvetica Neue"/>
              </a:defRPr>
            </a:pPr>
            <a:r>
              <a:rPr spc="110"/>
              <a:t>THE CUT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23376" y="1755648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0E8F7A"/>
                </a:solidFill>
                <a:latin typeface="Helvetica Neue"/>
              </a:defRPr>
            </a:pPr>
            <a:r>
              <a:rPr spc="110"/>
              <a:t>THE TRAP IT HIDES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048255"/>
            <a:ext cx="10469880" cy="16459"/>
          </a:xfrm>
          <a:prstGeom prst="rect">
            <a:avLst/>
          </a:prstGeom>
          <a:solidFill>
            <a:srgbClr val="D6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194560"/>
            <a:ext cx="171907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1">
                <a:solidFill>
                  <a:srgbClr val="121111"/>
                </a:solidFill>
                <a:latin typeface="Helvetica Neue"/>
              </a:defRPr>
            </a:pPr>
            <a:r>
              <a:t>1 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2344" y="2194560"/>
            <a:ext cx="3081527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How does this stack up against that?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8464" y="2194560"/>
            <a:ext cx="2560320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Total by dimension, sorted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3376" y="2194560"/>
            <a:ext cx="2450591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Counts where rates belong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583179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171907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1">
                <a:solidFill>
                  <a:srgbClr val="121111"/>
                </a:solidFill>
                <a:latin typeface="Helvetica Neue"/>
              </a:defRPr>
            </a:pPr>
            <a:r>
              <a:t>2  Ranking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2344" y="2692908"/>
            <a:ext cx="3081527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Who is on top, who is at the bottom?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2692908"/>
            <a:ext cx="2560320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Sort both ends, not just the 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2692908"/>
            <a:ext cx="2450591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A top-10 list with no bottom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081527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191256"/>
            <a:ext cx="171907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1">
                <a:solidFill>
                  <a:srgbClr val="121111"/>
                </a:solidFill>
                <a:latin typeface="Helvetica Neue"/>
              </a:defRPr>
            </a:pPr>
            <a:r>
              <a:t>3  Trend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52344" y="3191256"/>
            <a:ext cx="3081527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What changed, and when exactly?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8464" y="3191256"/>
            <a:ext cx="2560320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Index to a common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3376" y="3191256"/>
            <a:ext cx="2450591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Two scales on one chart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3579875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3689603"/>
            <a:ext cx="171907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1">
                <a:solidFill>
                  <a:srgbClr val="121111"/>
                </a:solidFill>
                <a:latin typeface="Helvetica Neue"/>
              </a:defRPr>
            </a:pPr>
            <a:r>
              <a:t>4  Composition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52344" y="3689603"/>
            <a:ext cx="3081527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What makes up the whole?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98464" y="3689603"/>
            <a:ext cx="2560320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Share of total, by period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23376" y="3689603"/>
            <a:ext cx="2450591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Mix shift read as performance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407822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4187951"/>
            <a:ext cx="171907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1">
                <a:solidFill>
                  <a:srgbClr val="121111"/>
                </a:solidFill>
                <a:latin typeface="Helvetica Neue"/>
              </a:defRPr>
            </a:pPr>
            <a:r>
              <a:t>5  Distribution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52344" y="4187951"/>
            <a:ext cx="3081527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What does a typical one look like?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98464" y="4187951"/>
            <a:ext cx="2560320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Histogram, plus the median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3376" y="4187951"/>
            <a:ext cx="2450591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The mean quoted as typical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4576572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4686299"/>
            <a:ext cx="171907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1">
                <a:solidFill>
                  <a:srgbClr val="121111"/>
                </a:solidFill>
                <a:latin typeface="Helvetica Neue"/>
              </a:defRPr>
            </a:pPr>
            <a:r>
              <a:t>6  Correlation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52344" y="4686299"/>
            <a:ext cx="3081527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Do these move together?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98464" y="4686299"/>
            <a:ext cx="2560320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Scatter, then a coefficient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3376" y="4686299"/>
            <a:ext cx="2450591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Correlation stated as cause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5074920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80" y="5184647"/>
            <a:ext cx="171907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1">
                <a:solidFill>
                  <a:srgbClr val="121111"/>
                </a:solidFill>
                <a:latin typeface="Helvetica Neue"/>
              </a:defRPr>
            </a:pPr>
            <a:r>
              <a:t>7  Outliers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52344" y="5184647"/>
            <a:ext cx="3081527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What looks wrong?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98464" y="5184647"/>
            <a:ext cx="2560320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Flag against the median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23376" y="5184647"/>
            <a:ext cx="2450591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Concentration read as a trend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55732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68680" y="5682995"/>
            <a:ext cx="1719072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1">
                <a:solidFill>
                  <a:srgbClr val="121111"/>
                </a:solidFill>
                <a:latin typeface="Helvetica Neue"/>
              </a:defRPr>
            </a:pPr>
            <a:r>
              <a:t>8  Decomposition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52344" y="5682995"/>
            <a:ext cx="3081527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Why did the number move?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98464" y="5682995"/>
            <a:ext cx="2560320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Bridge that sums to the total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23376" y="5682995"/>
            <a:ext cx="2450591" cy="49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36"/>
              </a:spcAft>
              <a:defRPr sz="1200" b="0">
                <a:solidFill>
                  <a:srgbClr val="5F5D5C"/>
                </a:solidFill>
                <a:latin typeface="Helvetica Neue"/>
              </a:defRPr>
            </a:pPr>
            <a:r>
              <a:t>A residual nobody names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6071616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LENS 1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86384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016"/>
              </a:spcAft>
              <a:defRPr sz="7200" b="1">
                <a:solidFill>
                  <a:srgbClr val="E01E29"/>
                </a:solidFill>
                <a:latin typeface="Helvetica Neue"/>
              </a:defRPr>
            </a:pPr>
            <a:r>
              <a:rPr spc="-20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060704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952"/>
              </a:spcAft>
              <a:defRPr sz="34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5798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377440"/>
            <a:ext cx="3319272" cy="224942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2377440"/>
            <a:ext cx="50292" cy="2249424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E01E29"/>
                </a:solidFill>
                <a:latin typeface="Helvetica Neue"/>
              </a:defRPr>
            </a:pPr>
            <a:r>
              <a:rPr spc="110"/>
              <a:t>THE QUESTION IT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How does this one stack up against that one?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2377440"/>
            <a:ext cx="3319272" cy="224942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43984" y="2377440"/>
            <a:ext cx="50292" cy="2249424"/>
          </a:xfrm>
          <a:prstGeom prst="rect">
            <a:avLst/>
          </a:prstGeom>
          <a:solidFill>
            <a:srgbClr val="8A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0016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ON TODAY’S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Which city bills the most ad revenue?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9288" y="2377440"/>
            <a:ext cx="3319272" cy="2249424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19288" y="2377440"/>
            <a:ext cx="50292" cy="2249424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19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THE TRAP IT HIDES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Mumbai is biggest at everything. Biggest is not best.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24712" y="3840480"/>
            <a:ext cx="2926080" cy="10973"/>
          </a:xfrm>
          <a:prstGeom prst="rect">
            <a:avLst/>
          </a:prstGeom>
          <a:solidFill>
            <a:srgbClr val="E4E0D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4712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A number with nothing beside it is not a finding. The comparison makes it one.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3840480"/>
            <a:ext cx="2926080" cy="10973"/>
          </a:xfrm>
          <a:prstGeom prst="rect">
            <a:avLst/>
          </a:prstGeom>
          <a:solidFill>
            <a:srgbClr val="E4E0D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0016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Top city bills 2.1× the bottom. The multiple is the finding, not the two totals.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3840480"/>
            <a:ext cx="2926080" cy="10973"/>
          </a:xfrm>
          <a:prstGeom prst="rect">
            <a:avLst/>
          </a:prstGeom>
          <a:solidFill>
            <a:srgbClr val="F2CFC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Catch it: divide by something. Per rep, per order, per rupee. Then re-rank.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7548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38"/>
              </a:spcAft>
              <a:defRPr sz="950" b="1">
                <a:solidFill>
                  <a:srgbClr val="E01E29"/>
                </a:solidFill>
                <a:latin typeface="Helvetica Neue"/>
              </a:defRPr>
            </a:pPr>
            <a:r>
              <a:rPr spc="110"/>
              <a:t>THE PROMPT  ·  PASTE THIS INTO AUREX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548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338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DROP IT IN THE CHAT — LET THE ROOM RUN IT WITH YOU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5047488"/>
            <a:ext cx="1046988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68680" y="5047488"/>
            <a:ext cx="54864" cy="1225296"/>
          </a:xfrm>
          <a:prstGeom prst="rect">
            <a:avLst/>
          </a:prstGeom>
          <a:solidFill>
            <a:srgbClr val="E01E29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70432" y="5157216"/>
            <a:ext cx="10012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Filter ad-sales-data.csv to status = Confirmed. Tell me how many rows you dropped, and why.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The city column has spelling variants. Show me the mapping BEFORE you apply it.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Total net_amount by city, sorted high to low.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Give me the gap between top and bottom as a multiple, not as two numbers.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Horizontal bar chart: sorted, one accent colour, values on bars, title = the finding as a sentence.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LENS 1 · COMPARISON</a:t>
            </a:r>
          </a:p>
        </p:txBody>
      </p:sp>
      <p:pic>
        <p:nvPicPr>
          <p:cNvPr id="6" name="Picture 5" descr="t1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650" y="841248"/>
            <a:ext cx="8318395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72414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5797296"/>
            <a:ext cx="54864" cy="420624"/>
          </a:xfrm>
          <a:prstGeom prst="rect">
            <a:avLst/>
          </a:prstGeom>
          <a:solidFill>
            <a:srgbClr val="E01E29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58521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5815584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Sorted, one colour, numbers on the bars. You will use this shape more than any other.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603504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00"/>
              </a:spcAft>
              <a:defRPr sz="25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The prompt behind Lens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3385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50"/>
              </a:spcAft>
              <a:defRPr sz="1250" b="0">
                <a:solidFill>
                  <a:srgbClr val="8A857F"/>
                </a:solidFill>
                <a:latin typeface="Helvetica Neue"/>
              </a:defRPr>
            </a:pPr>
            <a:r>
              <a:t>The same prompt from the Lens 1 card, pulled apart. Every line defends against one specific failure.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64208"/>
            <a:ext cx="67208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608" tIns="237744" rIns="182880" bIns="109728" rtlCol="0" anchor="ctr"/>
          <a:lstStyle/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Using the code interpreter on ad-sales-data.csv: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endParaRPr/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Filter to status = Confirmed and drop rows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where net_amount is blank. Tell me how many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rows you dropped.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endParaRPr/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The city column has spelling variants. Show me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the mapping you intend to apply before you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apply it.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endParaRPr/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Then total net_amount by city, sorted high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to low. Give me the gap between top and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bottom as a multiple, not just two numbers.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endParaRPr/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Return a horizontal bar chart, sorted, one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accent colour, values on the bars, titled with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the finding as a sentence.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82127" y="1664208"/>
            <a:ext cx="345643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82127" y="1664208"/>
            <a:ext cx="50292" cy="4069080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E01E29"/>
                </a:solidFill>
                <a:latin typeface="Helvetica Neue"/>
              </a:defRPr>
            </a:pPr>
            <a:r>
              <a:rPr spc="110"/>
              <a:t>WHAT COMES BACK</a:t>
            </a:r>
          </a:p>
        </p:txBody>
      </p:sp>
      <p:sp>
        <p:nvSpPr>
          <p:cNvPr id="11" name="Oval 10"/>
          <p:cNvSpPr/>
          <p:nvPr/>
        </p:nvSpPr>
        <p:spPr>
          <a:xfrm>
            <a:off x="8183879" y="2423160"/>
            <a:ext cx="91440" cy="91440"/>
          </a:xfrm>
          <a:prstGeom prst="ellipse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30768" y="2340864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378"/>
              </a:spcAft>
              <a:defRPr sz="1350" b="0">
                <a:solidFill>
                  <a:srgbClr val="121111"/>
                </a:solidFill>
                <a:latin typeface="Helvetica Neue"/>
              </a:defRPr>
            </a:pPr>
            <a:r>
              <a:t>A sorted bar chart, titled with the finding</a:t>
            </a:r>
          </a:p>
        </p:txBody>
      </p:sp>
      <p:sp>
        <p:nvSpPr>
          <p:cNvPr id="13" name="Oval 12"/>
          <p:cNvSpPr/>
          <p:nvPr/>
        </p:nvSpPr>
        <p:spPr>
          <a:xfrm>
            <a:off x="8183879" y="3209544"/>
            <a:ext cx="91440" cy="91440"/>
          </a:xfrm>
          <a:prstGeom prst="ellipse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0768" y="3127248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378"/>
              </a:spcAft>
              <a:defRPr sz="1350" b="0">
                <a:solidFill>
                  <a:srgbClr val="121111"/>
                </a:solidFill>
                <a:latin typeface="Helvetica Neue"/>
              </a:defRPr>
            </a:pPr>
            <a:r>
              <a:t>A cleaning log: 13 city strings collapsed to 8</a:t>
            </a:r>
          </a:p>
        </p:txBody>
      </p:sp>
      <p:sp>
        <p:nvSpPr>
          <p:cNvPr id="15" name="Oval 14"/>
          <p:cNvSpPr/>
          <p:nvPr/>
        </p:nvSpPr>
        <p:spPr>
          <a:xfrm>
            <a:off x="8183879" y="3995928"/>
            <a:ext cx="91440" cy="91440"/>
          </a:xfrm>
          <a:prstGeom prst="ellipse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8" y="3913632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378"/>
              </a:spcAft>
              <a:defRPr sz="1350" b="0">
                <a:solidFill>
                  <a:srgbClr val="121111"/>
                </a:solidFill>
                <a:latin typeface="Helvetica Neue"/>
              </a:defRPr>
            </a:pPr>
            <a:r>
              <a:t>The row count it dropped, stated up front</a:t>
            </a:r>
          </a:p>
        </p:txBody>
      </p:sp>
      <p:sp>
        <p:nvSpPr>
          <p:cNvPr id="17" name="Oval 16"/>
          <p:cNvSpPr/>
          <p:nvPr/>
        </p:nvSpPr>
        <p:spPr>
          <a:xfrm>
            <a:off x="8183879" y="4782312"/>
            <a:ext cx="91440" cy="91440"/>
          </a:xfrm>
          <a:prstGeom prst="ellipse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4700016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378"/>
              </a:spcAft>
              <a:defRPr sz="1350" b="0">
                <a:solidFill>
                  <a:srgbClr val="121111"/>
                </a:solidFill>
                <a:latin typeface="Helvetica Neue"/>
              </a:defRPr>
            </a:pPr>
            <a:r>
              <a:t>The gap as “2.1×”, not as two raw numbers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833872"/>
            <a:ext cx="54864" cy="420624"/>
          </a:xfrm>
          <a:prstGeom prst="rect">
            <a:avLst/>
          </a:prstGeom>
          <a:solidFill>
            <a:srgbClr val="E01E29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5568" y="58887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5852160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You are not asking for an answer. You are asking for an answer you can check.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0E8F7A"/>
                </a:solidFill>
                <a:latin typeface="Helvetica Neue"/>
              </a:defRPr>
            </a:pPr>
            <a:r>
              <a:rPr spc="140"/>
              <a:t>LENS 2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86384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016"/>
              </a:spcAft>
              <a:defRPr sz="7200" b="1">
                <a:solidFill>
                  <a:srgbClr val="0E8F7A"/>
                </a:solidFill>
                <a:latin typeface="Helvetica Neue"/>
              </a:defRPr>
            </a:pPr>
            <a:r>
              <a:rPr spc="-20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060704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952"/>
              </a:spcAft>
              <a:defRPr sz="34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RANKING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5798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377440"/>
            <a:ext cx="3319272" cy="224942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2377440"/>
            <a:ext cx="50292" cy="2249424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0E8F7A"/>
                </a:solidFill>
                <a:latin typeface="Helvetica Neue"/>
              </a:defRPr>
            </a:pPr>
            <a:r>
              <a:rPr spc="110"/>
              <a:t>THE QUESTION IT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Who is on top, and who is at the bottom?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2377440"/>
            <a:ext cx="3319272" cy="224942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43984" y="2377440"/>
            <a:ext cx="50292" cy="2249424"/>
          </a:xfrm>
          <a:prstGeom prst="rect">
            <a:avLst/>
          </a:prstGeom>
          <a:solidFill>
            <a:srgbClr val="8A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0016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ON TODAY’S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Which reps carry the business, and which coast?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9288" y="2377440"/>
            <a:ext cx="3319272" cy="2249424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19288" y="2377440"/>
            <a:ext cx="50292" cy="2249424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19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THE TRAP IT HIDES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A top-10 flatters. The bottom holds the recoverable money.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24712" y="3840480"/>
            <a:ext cx="2926080" cy="10973"/>
          </a:xfrm>
          <a:prstGeom prst="rect">
            <a:avLst/>
          </a:prstGeom>
          <a:solidFill>
            <a:srgbClr val="E4E0D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4712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Comparison with the order made explicit. The order is your argument.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3840480"/>
            <a:ext cx="2926080" cy="10973"/>
          </a:xfrm>
          <a:prstGeom prst="rect">
            <a:avLst/>
          </a:prstGeom>
          <a:solidFill>
            <a:srgbClr val="E4E0D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0016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30 reps. What matters is the gap between rank 5 and rank 25.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3840480"/>
            <a:ext cx="2926080" cy="10973"/>
          </a:xfrm>
          <a:prstGeom prst="rect">
            <a:avLst/>
          </a:prstGeom>
          <a:solidFill>
            <a:srgbClr val="F2CFC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Catch it: print both ends, with the order count beside every name.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7548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38"/>
              </a:spcAft>
              <a:defRPr sz="950" b="1">
                <a:solidFill>
                  <a:srgbClr val="0E8F7A"/>
                </a:solidFill>
                <a:latin typeface="Helvetica Neue"/>
              </a:defRPr>
            </a:pPr>
            <a:r>
              <a:rPr spc="110"/>
              <a:t>THE PROMPT  ·  PASTE THIS INTO AUREX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548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338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DROP IT IN THE CHAT — LET THE ROOM RUN IT WITH YOU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5047488"/>
            <a:ext cx="10469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68680" y="5047488"/>
            <a:ext cx="54864" cy="1024128"/>
          </a:xfrm>
          <a:prstGeom prst="rect">
            <a:avLst/>
          </a:prstGeom>
          <a:solidFill>
            <a:srgbClr val="0E8F7A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70432" y="5157216"/>
            <a:ext cx="10012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Rank all 30 reps by total net_amount on confirmed bookings only.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Show me the top 5 AND the bottom 5 in one table, with order count beside each name.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Flag any rep with fewer than 10 orders. I do not want a rank built on three deals.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State the gap between rank 5 and rank 25 as a multiple, and say what it would take to close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0E8F7A"/>
                </a:solidFill>
                <a:latin typeface="Helvetica Neue"/>
              </a:defRPr>
            </a:pPr>
            <a:r>
              <a:rPr spc="140"/>
              <a:t>LENS 2 · RANKING</a:t>
            </a:r>
          </a:p>
        </p:txBody>
      </p:sp>
      <p:pic>
        <p:nvPicPr>
          <p:cNvPr id="6" name="Picture 5" descr="t2_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133" y="841248"/>
            <a:ext cx="7491427" cy="49194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980176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5998464"/>
            <a:ext cx="54864" cy="420624"/>
          </a:xfrm>
          <a:prstGeom prst="rect">
            <a:avLst/>
          </a:prstGeom>
          <a:solidFill>
            <a:srgbClr val="0E8F7A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60533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0E8F7A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6016752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Show both ends. A top-5 alone hides the gap you can actually act 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C79A2F"/>
                </a:solidFill>
                <a:latin typeface="Helvetica Neue"/>
              </a:defRPr>
            </a:pPr>
            <a:r>
              <a:rPr spc="140"/>
              <a:t>LENS 3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86384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016"/>
              </a:spcAft>
              <a:defRPr sz="7200" b="1">
                <a:solidFill>
                  <a:srgbClr val="C79A2F"/>
                </a:solidFill>
                <a:latin typeface="Helvetica Neue"/>
              </a:defRPr>
            </a:pPr>
            <a:r>
              <a:rPr spc="-200"/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060704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952"/>
              </a:spcAft>
              <a:defRPr sz="34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TREND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5798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377440"/>
            <a:ext cx="3319272" cy="224942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2377440"/>
            <a:ext cx="50292" cy="2249424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C79A2F"/>
                </a:solidFill>
                <a:latin typeface="Helvetica Neue"/>
              </a:defRPr>
            </a:pPr>
            <a:r>
              <a:rPr spc="110"/>
              <a:t>THE QUESTION IT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What changed over time, and when exactly?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2377440"/>
            <a:ext cx="3319272" cy="224942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43984" y="2377440"/>
            <a:ext cx="50292" cy="2249424"/>
          </a:xfrm>
          <a:prstGeom prst="rect">
            <a:avLst/>
          </a:prstGeom>
          <a:solidFill>
            <a:srgbClr val="8A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0016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ON TODAY’S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Is digital really growing, or does it just feel that way?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9288" y="2377440"/>
            <a:ext cx="3319272" cy="2249424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19288" y="2377440"/>
            <a:ext cx="50292" cy="2249424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19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THE TRAP IT HIDES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Raw lines let the biggest series bury every other story.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24712" y="3840480"/>
            <a:ext cx="2926080" cy="10973"/>
          </a:xfrm>
          <a:prstGeom prst="rect">
            <a:avLst/>
          </a:prstGeom>
          <a:solidFill>
            <a:srgbClr val="E4E0D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4712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“When exactly” is the whole lens. A direction with no date is not actionable.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3840480"/>
            <a:ext cx="2926080" cy="10973"/>
          </a:xfrm>
          <a:prstGeom prst="rect">
            <a:avLst/>
          </a:prstGeom>
          <a:solidFill>
            <a:srgbClr val="E4E0D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0016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Indexed to 2022 = 100 the shape is visible. In raw rupees it is not.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3840480"/>
            <a:ext cx="2926080" cy="10973"/>
          </a:xfrm>
          <a:prstGeom prst="rect">
            <a:avLst/>
          </a:prstGeom>
          <a:solidFill>
            <a:srgbClr val="F2CFC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Catch it: index every series to a common base before you plot anything.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7548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38"/>
              </a:spcAft>
              <a:defRPr sz="950" b="1">
                <a:solidFill>
                  <a:srgbClr val="C79A2F"/>
                </a:solidFill>
                <a:latin typeface="Helvetica Neue"/>
              </a:defRPr>
            </a:pPr>
            <a:r>
              <a:rPr spc="110"/>
              <a:t>THE PROMPT  ·  PASTE THIS INTO AUREX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548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338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DROP IT IN THE CHAT — LET THE ROOM RUN IT WITH YOU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5047488"/>
            <a:ext cx="10469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68680" y="5047488"/>
            <a:ext cx="54864" cy="1024128"/>
          </a:xfrm>
          <a:prstGeom prst="rect">
            <a:avLst/>
          </a:prstGeom>
          <a:solidFill>
            <a:srgbClr val="C79A2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70432" y="5157216"/>
            <a:ext cx="10012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Monthly net_amount by ad_type, 2022 to 2024, confirmed bookings only.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Index every series to its own first month = 100, so I compare shapes and not sizes.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Name the month each series changed direction. Do not just tell me it is growing.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Exclude any part-finished month at the end, and tell me explicitly if you excluded one.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C79A2F"/>
                </a:solidFill>
                <a:latin typeface="Helvetica Neue"/>
              </a:defRPr>
            </a:pPr>
            <a:r>
              <a:rPr spc="140"/>
              <a:t>LENS 3 · TREND</a:t>
            </a:r>
          </a:p>
        </p:txBody>
      </p:sp>
      <p:pic>
        <p:nvPicPr>
          <p:cNvPr id="6" name="Picture 5" descr="t3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796" y="841248"/>
            <a:ext cx="7210102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72414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5797296"/>
            <a:ext cx="54864" cy="420624"/>
          </a:xfrm>
          <a:prstGeom prst="rect">
            <a:avLst/>
          </a:prstGeom>
          <a:solidFill>
            <a:srgbClr val="C79A2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58521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C79A2F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5815584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Indexed to 2022 = 100. Plot raw values and you see the big line and nothing else.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LENS 4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86384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016"/>
              </a:spcAft>
              <a:defRPr sz="7200" b="1">
                <a:solidFill>
                  <a:srgbClr val="4E79CF"/>
                </a:solidFill>
                <a:latin typeface="Helvetica Neue"/>
              </a:defRPr>
            </a:pPr>
            <a:r>
              <a:rPr spc="-20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060704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952"/>
              </a:spcAft>
              <a:defRPr sz="34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COMPOSITION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5798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377440"/>
            <a:ext cx="3319272" cy="224942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2377440"/>
            <a:ext cx="50292" cy="2249424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4E79CF"/>
                </a:solidFill>
                <a:latin typeface="Helvetica Neue"/>
              </a:defRPr>
            </a:pPr>
            <a:r>
              <a:rPr spc="110"/>
              <a:t>THE QUESTION IT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What makes up the total, and is the mix moving?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2377440"/>
            <a:ext cx="3319272" cy="224942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43984" y="2377440"/>
            <a:ext cx="50292" cy="2249424"/>
          </a:xfrm>
          <a:prstGeom prst="rect">
            <a:avLst/>
          </a:prstGeom>
          <a:solidFill>
            <a:srgbClr val="8A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0016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ON TODAY’S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Print is shrinking. By how much, and into what?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9288" y="2377440"/>
            <a:ext cx="3319272" cy="2249424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19288" y="2377440"/>
            <a:ext cx="50292" cy="2249424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19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THE TRAP IT HIDES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Volume can rise while revenue stalls. That is mix.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24712" y="3840480"/>
            <a:ext cx="2926080" cy="10973"/>
          </a:xfrm>
          <a:prstGeom prst="rect">
            <a:avLst/>
          </a:prstGeom>
          <a:solidFill>
            <a:srgbClr val="E4E0D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4712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A trend question in different clothes. Always ask for composition by period.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3840480"/>
            <a:ext cx="2926080" cy="10973"/>
          </a:xfrm>
          <a:prstGeom prst="rect">
            <a:avLst/>
          </a:prstGeom>
          <a:solidFill>
            <a:srgbClr val="E4E0D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0016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Share of total by year says where the money went. A single-year pie does not.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3840480"/>
            <a:ext cx="2926080" cy="10973"/>
          </a:xfrm>
          <a:prstGeom prst="rect">
            <a:avLst/>
          </a:prstGeom>
          <a:solidFill>
            <a:srgbClr val="F2CFC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Catch it: plot share and absolute together. If they disagree, mix is the story.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7548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38"/>
              </a:spcAft>
              <a:defRPr sz="950" b="1">
                <a:solidFill>
                  <a:srgbClr val="4E79CF"/>
                </a:solidFill>
                <a:latin typeface="Helvetica Neue"/>
              </a:defRPr>
            </a:pPr>
            <a:r>
              <a:rPr spc="110"/>
              <a:t>THE PROMPT  ·  PASTE THIS INTO AUREX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548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338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DROP IT IN THE CHAT — LET THE ROOM RUN IT WITH YOU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5047488"/>
            <a:ext cx="10469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68680" y="5047488"/>
            <a:ext cx="54864" cy="1024128"/>
          </a:xfrm>
          <a:prstGeom prst="rect">
            <a:avLst/>
          </a:prstGeom>
          <a:solidFill>
            <a:srgbClr val="4E79C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70432" y="5157216"/>
            <a:ext cx="10012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Share of net_amount by ad_type for each year: 2022, 2023, 2024. Confirmed only.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Give me share % and absolute rupees in the same table, side by side.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Tell me which category gained share while losing rupees, or the reverse. That is the finding.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100% stacked column by year. Label only the categories that moved more than 2 points.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LENS 4 · COMPOSITION</a:t>
            </a:r>
          </a:p>
        </p:txBody>
      </p:sp>
      <p:pic>
        <p:nvPicPr>
          <p:cNvPr id="6" name="Picture 5" descr="t4_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488" y="841248"/>
            <a:ext cx="6820717" cy="49194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980176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5998464"/>
            <a:ext cx="54864" cy="420624"/>
          </a:xfrm>
          <a:prstGeom prst="rect">
            <a:avLst/>
          </a:prstGeom>
          <a:solidFill>
            <a:srgbClr val="4E79C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60533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6016752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More of what sold was the cheap thing, so pages went up and money did not.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25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LENS 5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86384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016"/>
              </a:spcAft>
              <a:defRPr sz="7200" b="1">
                <a:solidFill>
                  <a:srgbClr val="E01E29"/>
                </a:solidFill>
                <a:latin typeface="Helvetica Neue"/>
              </a:defRPr>
            </a:pPr>
            <a:r>
              <a:rPr spc="-200"/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060704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952"/>
              </a:spcAft>
              <a:defRPr sz="34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5798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377440"/>
            <a:ext cx="3319272" cy="224942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2377440"/>
            <a:ext cx="50292" cy="2249424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E01E29"/>
                </a:solidFill>
                <a:latin typeface="Helvetica Neue"/>
              </a:defRPr>
            </a:pPr>
            <a:r>
              <a:rPr spc="110"/>
              <a:t>THE QUESTION IT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What does a typical one actually look like?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2377440"/>
            <a:ext cx="3319272" cy="224942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43984" y="2377440"/>
            <a:ext cx="50292" cy="2249424"/>
          </a:xfrm>
          <a:prstGeom prst="rect">
            <a:avLst/>
          </a:prstGeom>
          <a:solidFill>
            <a:srgbClr val="8A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0016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ON TODAY’S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What is a normal deal size here?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9288" y="2377440"/>
            <a:ext cx="3319272" cy="2249424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19288" y="2377440"/>
            <a:ext cx="50292" cy="2249424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19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THE TRAP IT HIDES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A handful of whales drag the average away from reality.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24712" y="3840480"/>
            <a:ext cx="2926080" cy="10973"/>
          </a:xfrm>
          <a:prstGeom prst="rect">
            <a:avLst/>
          </a:prstGeom>
          <a:solidFill>
            <a:srgbClr val="E4E0D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4712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“Typical” is a claim about the middle. Most people answer it with the average.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3840480"/>
            <a:ext cx="2926080" cy="10973"/>
          </a:xfrm>
          <a:prstGeom prst="rect">
            <a:avLst/>
          </a:prstGeom>
          <a:solidFill>
            <a:srgbClr val="E4E0D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0016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Mean ₹1.80L, median ₹0.79L. The honest answer to “normal” is the smaller one.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3840480"/>
            <a:ext cx="2926080" cy="10973"/>
          </a:xfrm>
          <a:prstGeom prst="rect">
            <a:avLst/>
          </a:prstGeom>
          <a:solidFill>
            <a:srgbClr val="F2CFC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Catch it: ask for both, plus the ratio. Above 1.3× the mean is misleading you.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7548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38"/>
              </a:spcAft>
              <a:defRPr sz="950" b="1">
                <a:solidFill>
                  <a:srgbClr val="E01E29"/>
                </a:solidFill>
                <a:latin typeface="Helvetica Neue"/>
              </a:defRPr>
            </a:pPr>
            <a:r>
              <a:rPr spc="110"/>
              <a:t>THE PROMPT  ·  PASTE THIS INTO AUREX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548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338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DROP IT IN THE CHAT — LET THE ROOM RUN IT WITH YOU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5047488"/>
            <a:ext cx="10469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68680" y="5047488"/>
            <a:ext cx="54864" cy="1024128"/>
          </a:xfrm>
          <a:prstGeom prst="rect">
            <a:avLst/>
          </a:prstGeom>
          <a:solidFill>
            <a:srgbClr val="E01E29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70432" y="5157216"/>
            <a:ext cx="10012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Distribution of net_amount across confirmed bookings.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Give me mean, median, p25, p75, p90 — and the mean-to-median ratio as a number.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Histogram with the median drawn as a line on the chart, not just quoted in the caption.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If that ratio is above 1.3, tell me in one sentence which figure I should quote, and why.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LENS 5 · DISTRIBUTION</a:t>
            </a:r>
          </a:p>
        </p:txBody>
      </p:sp>
      <p:pic>
        <p:nvPicPr>
          <p:cNvPr id="6" name="Picture 5" descr="t5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856" y="841248"/>
            <a:ext cx="7597982" cy="49194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980176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5998464"/>
            <a:ext cx="54864" cy="420624"/>
          </a:xfrm>
          <a:prstGeom prst="rect">
            <a:avLst/>
          </a:prstGeom>
          <a:solidFill>
            <a:srgbClr val="E01E29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60533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E01E29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6016752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Mean ₹1.80L, median ₹0.79L. Call the mean “typical” and you overstate by 2.3×.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0E8F7A"/>
                </a:solidFill>
                <a:latin typeface="Helvetica Neue"/>
              </a:defRPr>
            </a:pPr>
            <a:r>
              <a:rPr spc="140"/>
              <a:t>LENS 6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86384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016"/>
              </a:spcAft>
              <a:defRPr sz="7200" b="1">
                <a:solidFill>
                  <a:srgbClr val="0E8F7A"/>
                </a:solidFill>
                <a:latin typeface="Helvetica Neue"/>
              </a:defRPr>
            </a:pPr>
            <a:r>
              <a:rPr spc="-20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060704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952"/>
              </a:spcAft>
              <a:defRPr sz="34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CORRELATION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5798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377440"/>
            <a:ext cx="3319272" cy="224942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2377440"/>
            <a:ext cx="50292" cy="2249424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0E8F7A"/>
                </a:solidFill>
                <a:latin typeface="Helvetica Neue"/>
              </a:defRPr>
            </a:pPr>
            <a:r>
              <a:rPr spc="110"/>
              <a:t>THE QUESTION IT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Do these two things move together?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2377440"/>
            <a:ext cx="3319272" cy="224942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43984" y="2377440"/>
            <a:ext cx="50292" cy="2249424"/>
          </a:xfrm>
          <a:prstGeom prst="rect">
            <a:avLst/>
          </a:prstGeom>
          <a:solidFill>
            <a:srgbClr val="8A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0016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ON TODAY’S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Do bigger discounts actually win bigger deals?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9288" y="2377440"/>
            <a:ext cx="3319272" cy="2249424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19288" y="2377440"/>
            <a:ext cx="50292" cy="2249424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19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THE TRAP IT HIDES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Two things moving together is not one causing the other.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24712" y="3840480"/>
            <a:ext cx="2926080" cy="10973"/>
          </a:xfrm>
          <a:prstGeom prst="rect">
            <a:avLst/>
          </a:prstGeom>
          <a:solidFill>
            <a:srgbClr val="E4E0D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4712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Often the useful answer is no — and a clean no ends the argument.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3840480"/>
            <a:ext cx="2926080" cy="10973"/>
          </a:xfrm>
          <a:prstGeom prst="rect">
            <a:avLst/>
          </a:prstGeom>
          <a:solidFill>
            <a:srgbClr val="E4E0D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0016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r = −0.05. Nothing there. That result is worth more than a weak yes.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3840480"/>
            <a:ext cx="2926080" cy="10973"/>
          </a:xfrm>
          <a:prstGeom prst="rect">
            <a:avLst/>
          </a:prstGeom>
          <a:solidFill>
            <a:srgbClr val="F2CFC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Catch it: name the third thing — season, campaign, pricing.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7548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38"/>
              </a:spcAft>
              <a:defRPr sz="950" b="1">
                <a:solidFill>
                  <a:srgbClr val="0E8F7A"/>
                </a:solidFill>
                <a:latin typeface="Helvetica Neue"/>
              </a:defRPr>
            </a:pPr>
            <a:r>
              <a:rPr spc="110"/>
              <a:t>THE PROMPT  ·  PASTE THIS INTO AUREX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548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338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DROP IT IN THE CHAT — LET THE ROOM RUN IT WITH YOU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5047488"/>
            <a:ext cx="10469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68680" y="5047488"/>
            <a:ext cx="54864" cy="1024128"/>
          </a:xfrm>
          <a:prstGeom prst="rect">
            <a:avLst/>
          </a:prstGeom>
          <a:solidFill>
            <a:srgbClr val="0E8F7A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70432" y="5157216"/>
            <a:ext cx="10012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Scatter discount_pct against net_amount for confirmed bookings.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Give me the correlation coefficient, and say plainly whether that is strong, weak or nothing.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Do NOT describe this as one thing causing the other. I will ask for that separately.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List three other factors that could be driving both, given this is ad sales data.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28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0E8F7A"/>
                </a:solidFill>
                <a:latin typeface="Helvetica Neue"/>
              </a:defRPr>
            </a:pPr>
            <a:r>
              <a:rPr spc="140"/>
              <a:t>LENS 6 · CORRELATION</a:t>
            </a:r>
          </a:p>
        </p:txBody>
      </p:sp>
      <p:pic>
        <p:nvPicPr>
          <p:cNvPr id="6" name="Picture 5" descr="t6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5051" y="841248"/>
            <a:ext cx="6741592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72414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5797296"/>
            <a:ext cx="54864" cy="420624"/>
          </a:xfrm>
          <a:prstGeom prst="rect">
            <a:avLst/>
          </a:prstGeom>
          <a:solidFill>
            <a:srgbClr val="0E8F7A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58521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0E8F7A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5815584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r = −0.05, so there is nothing here. Still a result — and it settles the argument.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29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C79A2F"/>
                </a:solidFill>
                <a:latin typeface="Helvetica Neue"/>
              </a:defRPr>
            </a:pPr>
            <a:r>
              <a:rPr spc="140"/>
              <a:t>LENS 7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86384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016"/>
              </a:spcAft>
              <a:defRPr sz="7200" b="1">
                <a:solidFill>
                  <a:srgbClr val="C79A2F"/>
                </a:solidFill>
                <a:latin typeface="Helvetica Neue"/>
              </a:defRPr>
            </a:pPr>
            <a:r>
              <a:rPr spc="-200"/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060704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952"/>
              </a:spcAft>
              <a:defRPr sz="34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OUTLIERS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5798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377440"/>
            <a:ext cx="3319272" cy="224942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2377440"/>
            <a:ext cx="50292" cy="2249424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C79A2F"/>
                </a:solidFill>
                <a:latin typeface="Helvetica Neue"/>
              </a:defRPr>
            </a:pPr>
            <a:r>
              <a:rPr spc="110"/>
              <a:t>THE QUESTION IT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What looks wrong, and is it real or a data error?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2377440"/>
            <a:ext cx="3319272" cy="224942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43984" y="2377440"/>
            <a:ext cx="50292" cy="2249424"/>
          </a:xfrm>
          <a:prstGeom prst="rect">
            <a:avLst/>
          </a:prstGeom>
          <a:solidFill>
            <a:srgbClr val="8A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0016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ON TODAY’S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Are a handful of deals carrying the whole year?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9288" y="2377440"/>
            <a:ext cx="3319272" cy="2249424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19288" y="2377440"/>
            <a:ext cx="50292" cy="2249424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19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THE TRAP IT HIDES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A few large deals can manufacture a trend.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24712" y="3840480"/>
            <a:ext cx="2926080" cy="10973"/>
          </a:xfrm>
          <a:prstGeom prst="rect">
            <a:avLst/>
          </a:prstGeom>
          <a:solidFill>
            <a:srgbClr val="E4E0D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4712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One is a story, the other is a bug. Decide which before you present either.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3840480"/>
            <a:ext cx="2926080" cy="10973"/>
          </a:xfrm>
          <a:prstGeom prst="rect">
            <a:avLst/>
          </a:prstGeom>
          <a:solidFill>
            <a:srgbClr val="E4E0D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0016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80 deals out of 2,490 carry 22% of revenue. That is concentration, not growth.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3840480"/>
            <a:ext cx="2926080" cy="10973"/>
          </a:xfrm>
          <a:prstGeom prst="rect">
            <a:avLst/>
          </a:prstGeom>
          <a:solidFill>
            <a:srgbClr val="F2CFC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Catch it: re-run the headline with the top 1% removed. If it vanishes, say so.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7548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38"/>
              </a:spcAft>
              <a:defRPr sz="950" b="1">
                <a:solidFill>
                  <a:srgbClr val="C79A2F"/>
                </a:solidFill>
                <a:latin typeface="Helvetica Neue"/>
              </a:defRPr>
            </a:pPr>
            <a:r>
              <a:rPr spc="110"/>
              <a:t>THE PROMPT  ·  PASTE THIS INTO AUREX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548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338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DROP IT IN THE CHAT — LET THE ROOM RUN IT WITH YOU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5047488"/>
            <a:ext cx="10469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68680" y="5047488"/>
            <a:ext cx="54864" cy="1024128"/>
          </a:xfrm>
          <a:prstGeom prst="rect">
            <a:avLst/>
          </a:prstGeom>
          <a:solidFill>
            <a:srgbClr val="C79A2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70432" y="5157216"/>
            <a:ext cx="10012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Flag every booking above 3× the median net_amount. How many, and what % of revenue are they?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Show them in a table with client, city, rep and date, so I can eyeball them for data errors.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Then re-run the revenue growth headline with those rows excluded. Show me both numbers.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Tell me straight whether my headline survives without them.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30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C79A2F"/>
                </a:solidFill>
                <a:latin typeface="Helvetica Neue"/>
              </a:defRPr>
            </a:pPr>
            <a:r>
              <a:rPr spc="140"/>
              <a:t>LENS 7 · OUTLIERS</a:t>
            </a:r>
          </a:p>
        </p:txBody>
      </p:sp>
      <p:pic>
        <p:nvPicPr>
          <p:cNvPr id="6" name="Picture 5" descr="t7_outli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719" y="841248"/>
            <a:ext cx="6992256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72414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5797296"/>
            <a:ext cx="54864" cy="420624"/>
          </a:xfrm>
          <a:prstGeom prst="rect">
            <a:avLst/>
          </a:prstGeom>
          <a:solidFill>
            <a:srgbClr val="C79A2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58521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C79A2F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5815584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80 deals out of 2,490 carry 22% of revenue. Lose two and your trend goes away.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31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LENS 8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786384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016"/>
              </a:spcAft>
              <a:defRPr sz="7200" b="1">
                <a:solidFill>
                  <a:srgbClr val="4E79CF"/>
                </a:solidFill>
                <a:latin typeface="Helvetica Neue"/>
              </a:defRPr>
            </a:pPr>
            <a:r>
              <a:rPr spc="-200"/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060704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952"/>
              </a:spcAft>
              <a:defRPr sz="34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DECOMPOSITION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5798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377440"/>
            <a:ext cx="3319272" cy="224942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2377440"/>
            <a:ext cx="50292" cy="2249424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4E79CF"/>
                </a:solidFill>
                <a:latin typeface="Helvetica Neue"/>
              </a:defRPr>
            </a:pPr>
            <a:r>
              <a:rPr spc="110"/>
              <a:t>THE QUESTION IT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Why did the number move?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984" y="2377440"/>
            <a:ext cx="3319272" cy="224942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43984" y="2377440"/>
            <a:ext cx="50292" cy="2249424"/>
          </a:xfrm>
          <a:prstGeom prst="rect">
            <a:avLst/>
          </a:prstGeom>
          <a:solidFill>
            <a:srgbClr val="8A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0016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ON TODAY’S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Revenue grew 21%. More deals, or bigger ones?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9288" y="2377440"/>
            <a:ext cx="3319272" cy="2249424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19288" y="2377440"/>
            <a:ext cx="50292" cy="2249424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19" y="25420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THE TRAP IT HIDES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871216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34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“It went up” is not a driver. The parts must sum.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24712" y="3840480"/>
            <a:ext cx="2926080" cy="10973"/>
          </a:xfrm>
          <a:prstGeom prst="rect">
            <a:avLst/>
          </a:prstGeom>
          <a:solidFill>
            <a:srgbClr val="E4E0D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24712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The only lens that answers why. It is also the one that reliably gets skipped.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3840480"/>
            <a:ext cx="2926080" cy="10973"/>
          </a:xfrm>
          <a:prstGeom prst="rect">
            <a:avLst/>
          </a:prstGeom>
          <a:solidFill>
            <a:srgbClr val="E4E0DB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0016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About 20% from more orders, 80% from bigger ones. Two very different actions.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3840480"/>
            <a:ext cx="2926080" cy="10973"/>
          </a:xfrm>
          <a:prstGeom prst="rect">
            <a:avLst/>
          </a:prstGeom>
          <a:solidFill>
            <a:srgbClr val="F2CFC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395020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  <a:defRPr sz="1050" b="0">
                <a:solidFill>
                  <a:srgbClr val="8A857F"/>
                </a:solidFill>
                <a:latin typeface="Helvetica Neue"/>
              </a:defRPr>
            </a:pPr>
            <a:r>
              <a:t>Catch it: demand the residual. Not near zero means not finished.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7548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38"/>
              </a:spcAft>
              <a:defRPr sz="950" b="1">
                <a:solidFill>
                  <a:srgbClr val="4E79CF"/>
                </a:solidFill>
                <a:latin typeface="Helvetica Neue"/>
              </a:defRPr>
            </a:pPr>
            <a:r>
              <a:rPr spc="110"/>
              <a:t>THE PROMPT  ·  PASTE THIS INTO AUREX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5488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338"/>
              </a:spcAft>
              <a:defRPr sz="950" b="1">
                <a:solidFill>
                  <a:srgbClr val="8A857F"/>
                </a:solidFill>
                <a:latin typeface="Helvetica Neue"/>
              </a:defRPr>
            </a:pPr>
            <a:r>
              <a:rPr spc="110"/>
              <a:t>DROP IT IN THE CHAT — LET THE ROOM RUN IT WITH YOU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5047488"/>
            <a:ext cx="1046988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68680" y="5047488"/>
            <a:ext cx="54864" cy="1225296"/>
          </a:xfrm>
          <a:prstGeom prst="rect">
            <a:avLst/>
          </a:prstGeom>
          <a:solidFill>
            <a:srgbClr val="4E79C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70432" y="5157216"/>
            <a:ext cx="10012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Net revenue moved from ₹12.81 Cr in 2023 to ₹15.54 Cr in 2024. Split that change, with code.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volume effect = (orders24 − orders23) × avg23    size effect = (avg24 − avg23) × orders24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The two must sum to the total change. Print the reconciliation and print the residual.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If the residual is not about zero, stop and tell me what is unexplained.</a:t>
            </a:r>
          </a:p>
          <a:p>
            <a:pPr algn="l">
              <a:lnSpc>
                <a:spcPct val="134000"/>
              </a:lnSpc>
              <a:spcAft>
                <a:spcPts val="0"/>
              </a:spcAft>
              <a:defRPr sz="1000" b="0">
                <a:solidFill>
                  <a:srgbClr val="4A4847"/>
                </a:solidFill>
                <a:latin typeface="Courier New"/>
              </a:defRPr>
            </a:pPr>
            <a:r>
              <a:t>Label every driver OBSERVED or INFERRED.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32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LENS 8 · DECOMPOSITION</a:t>
            </a:r>
          </a:p>
        </p:txBody>
      </p:sp>
      <p:pic>
        <p:nvPicPr>
          <p:cNvPr id="6" name="Picture 5" descr="t8_de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681" y="841248"/>
            <a:ext cx="6350331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72414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5797296"/>
            <a:ext cx="54864" cy="420624"/>
          </a:xfrm>
          <a:prstGeom prst="rect">
            <a:avLst/>
          </a:prstGeom>
          <a:solidFill>
            <a:srgbClr val="4E79C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58521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5815584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The parts must sum to the whole. An unexplained residual means you are not finished.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33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603504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00"/>
              </a:spcAft>
              <a:defRPr sz="25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The prompt behind Lens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3385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50"/>
              </a:spcAft>
              <a:defRPr sz="1250" b="0">
                <a:solidFill>
                  <a:srgbClr val="8A857F"/>
                </a:solidFill>
                <a:latin typeface="Helvetica Neue"/>
              </a:defRPr>
            </a:pPr>
            <a:r>
              <a:t>The same prompt from the Lens 8 card. This one makes the tool prove its own arithmetic.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64208"/>
            <a:ext cx="67208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608" tIns="237744" rIns="182880" bIns="109728" rtlCol="0" anchor="ctr"/>
          <a:lstStyle/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Net revenue moved from ₹12.81 Cr in 2023 to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₹15.54 Cr in 2024. Find out why, with code.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endParaRPr/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1  Confirm the total change, absolute and %.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endParaRPr/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2  Split it into two effects: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     volume    = (orders24 − orders23) × avg23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     deal size = (avg24 − avg23) × orders24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endParaRPr/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3  The two must sum to the total change.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   Print the reconciliation and the residual.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   If the residual is not about zero, stop and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   tell me what is unexplained.</a:t>
            </a:r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endParaRPr/>
          </a:p>
          <a:p>
            <a:pPr algn="l">
              <a:lnSpc>
                <a:spcPct val="134000"/>
              </a:lnSpc>
              <a:defRPr sz="1050">
                <a:solidFill>
                  <a:srgbClr val="4A4847"/>
                </a:solidFill>
                <a:latin typeface="Courier New"/>
              </a:defRPr>
            </a:pPr>
            <a:r>
              <a:t>4  Label every driver OBSERVED or INFERRED.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82127" y="1664208"/>
            <a:ext cx="345643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82127" y="1664208"/>
            <a:ext cx="50292" cy="4069080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1920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4E79CF"/>
                </a:solidFill>
                <a:latin typeface="Helvetica Neue"/>
              </a:defRPr>
            </a:pPr>
            <a:r>
              <a:rPr spc="110"/>
              <a:t>WHAT COMES BACK</a:t>
            </a:r>
          </a:p>
        </p:txBody>
      </p:sp>
      <p:sp>
        <p:nvSpPr>
          <p:cNvPr id="11" name="Oval 10"/>
          <p:cNvSpPr/>
          <p:nvPr/>
        </p:nvSpPr>
        <p:spPr>
          <a:xfrm>
            <a:off x="8183879" y="2423160"/>
            <a:ext cx="91440" cy="91440"/>
          </a:xfrm>
          <a:prstGeom prst="ellipse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30768" y="2340864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378"/>
              </a:spcAft>
              <a:defRPr sz="1350" b="0">
                <a:solidFill>
                  <a:srgbClr val="121111"/>
                </a:solidFill>
                <a:latin typeface="Helvetica Neue"/>
              </a:defRPr>
            </a:pPr>
            <a:r>
              <a:t>A bridge where the parts tie to the total</a:t>
            </a:r>
          </a:p>
        </p:txBody>
      </p:sp>
      <p:sp>
        <p:nvSpPr>
          <p:cNvPr id="13" name="Oval 12"/>
          <p:cNvSpPr/>
          <p:nvPr/>
        </p:nvSpPr>
        <p:spPr>
          <a:xfrm>
            <a:off x="8183879" y="3209544"/>
            <a:ext cx="91440" cy="91440"/>
          </a:xfrm>
          <a:prstGeom prst="ellipse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0768" y="3127248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378"/>
              </a:spcAft>
              <a:defRPr sz="1350" b="0">
                <a:solidFill>
                  <a:srgbClr val="121111"/>
                </a:solidFill>
                <a:latin typeface="Helvetica Neue"/>
              </a:defRPr>
            </a:pPr>
            <a:r>
              <a:t>20% from more orders, 80% from bigger ones</a:t>
            </a:r>
          </a:p>
        </p:txBody>
      </p:sp>
      <p:sp>
        <p:nvSpPr>
          <p:cNvPr id="15" name="Oval 14"/>
          <p:cNvSpPr/>
          <p:nvPr/>
        </p:nvSpPr>
        <p:spPr>
          <a:xfrm>
            <a:off x="8183879" y="3995928"/>
            <a:ext cx="91440" cy="91440"/>
          </a:xfrm>
          <a:prstGeom prst="ellipse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8" y="3913632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378"/>
              </a:spcAft>
              <a:defRPr sz="1350" b="0">
                <a:solidFill>
                  <a:srgbClr val="121111"/>
                </a:solidFill>
                <a:latin typeface="Helvetica Neue"/>
              </a:defRPr>
            </a:pPr>
            <a:r>
              <a:t>The residual, printed, at about zero</a:t>
            </a:r>
          </a:p>
        </p:txBody>
      </p:sp>
      <p:sp>
        <p:nvSpPr>
          <p:cNvPr id="17" name="Oval 16"/>
          <p:cNvSpPr/>
          <p:nvPr/>
        </p:nvSpPr>
        <p:spPr>
          <a:xfrm>
            <a:off x="8183879" y="4782312"/>
            <a:ext cx="91440" cy="91440"/>
          </a:xfrm>
          <a:prstGeom prst="ellipse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4700016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378"/>
              </a:spcAft>
              <a:defRPr sz="1350" b="0">
                <a:solidFill>
                  <a:srgbClr val="121111"/>
                </a:solidFill>
                <a:latin typeface="Helvetica Neue"/>
              </a:defRPr>
            </a:pPr>
            <a:r>
              <a:t>An honest label on anything it assumed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833872"/>
            <a:ext cx="54864" cy="420624"/>
          </a:xfrm>
          <a:prstGeom prst="rect">
            <a:avLst/>
          </a:prstGeom>
          <a:solidFill>
            <a:srgbClr val="4E79C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5568" y="58887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5852160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Make the tool print its own reconciliation. A residual nobody names is not an answer.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t>34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C79A2F"/>
                </a:solidFill>
                <a:latin typeface="Helvetica Neue"/>
              </a:defRPr>
            </a:pPr>
            <a:r>
              <a:rPr spc="150"/>
              <a:t>WAR STORY · HT DIGITAL STREAMS  ·  CONTEXTUAL TARGETING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69264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812"/>
              </a:spcAft>
              <a:defRPr sz="2900" b="1">
                <a:solidFill>
                  <a:srgbClr val="FFFFFF"/>
                </a:solidFill>
                <a:latin typeface="Helvetica Neue"/>
              </a:defRPr>
            </a:pPr>
            <a:r>
              <a:rPr spc="-60"/>
              <a:t>The lift was real. The first number we ran was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2000"/>
              </a:lnSpc>
              <a:spcAft>
                <a:spcPts val="434"/>
              </a:spcAft>
              <a:defRPr sz="1550" b="0">
                <a:solidFill>
                  <a:srgbClr val="C4BEB8"/>
                </a:solidFill>
                <a:latin typeface="Helvetica Neue"/>
              </a:defRPr>
            </a:pPr>
            <a:r>
              <a:t>We moved from broad targeting to in-page semantics with brand-safety controls. The early read looked enormous, because the two groups were not comparable. Different placements, different weeks, different mix.</a:t>
            </a:r>
          </a:p>
          <a:p>
            <a:pPr algn="l">
              <a:lnSpc>
                <a:spcPct val="142000"/>
              </a:lnSpc>
              <a:spcAft>
                <a:spcPts val="434"/>
              </a:spcAft>
              <a:defRPr sz="1550" b="0">
                <a:solidFill>
                  <a:srgbClr val="C4BEB8"/>
                </a:solidFill>
                <a:latin typeface="Helvetica Neue"/>
              </a:defRPr>
            </a:pPr>
            <a:endParaRPr/>
          </a:p>
          <a:p>
            <a:pPr algn="l">
              <a:lnSpc>
                <a:spcPct val="142000"/>
              </a:lnSpc>
              <a:spcAft>
                <a:spcPts val="434"/>
              </a:spcAft>
              <a:defRPr sz="1550" b="0">
                <a:solidFill>
                  <a:srgbClr val="C4BEB8"/>
                </a:solidFill>
                <a:latin typeface="Helvetica Neue"/>
              </a:defRPr>
            </a:pPr>
            <a:r>
              <a:t>Once it was cut properly against a like-for-like baseline, the gain held up. Smaller than the first number, and defensible in front of a client.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969264"/>
            <a:ext cx="3246120" cy="2651760"/>
          </a:xfrm>
          <a:prstGeom prst="rect">
            <a:avLst/>
          </a:prstGeom>
          <a:solidFill>
            <a:srgbClr val="332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92440" y="969264"/>
            <a:ext cx="50292" cy="2651760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192" y="129844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1400"/>
              </a:spcAft>
              <a:defRPr sz="5000" b="1">
                <a:solidFill>
                  <a:srgbClr val="C79A2F"/>
                </a:solidFill>
                <a:latin typeface="Helvetica Neue"/>
              </a:defRPr>
            </a:pPr>
            <a:r>
              <a:rPr spc="-160"/>
              <a:t>+25%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2304288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  <a:defRPr sz="1250" b="0">
                <a:solidFill>
                  <a:srgbClr val="B0A9A2"/>
                </a:solidFill>
                <a:latin typeface="Helvetica Neue"/>
              </a:defRPr>
            </a:pPr>
            <a:r>
              <a:t>CTR and conversion against vanilla targeting, on a like-for-like cut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285232"/>
            <a:ext cx="54864" cy="420624"/>
          </a:xfrm>
          <a:prstGeom prst="rect">
            <a:avLst/>
          </a:prstGeom>
          <a:solidFill>
            <a:srgbClr val="C79A2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" y="53400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C79A2F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5303520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F4F0EB"/>
                </a:solidFill>
                <a:latin typeface="Helvetica Neue"/>
              </a:defRPr>
            </a:pPr>
            <a:r>
              <a:t>A number means nothing until you name what it is being compared to.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35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8F0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242819"/>
            <a:ext cx="10561320" cy="1823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120"/>
              </a:spcAft>
              <a:defRPr sz="40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Most people stop at</a:t>
            </a:r>
          </a:p>
          <a:p>
            <a:pPr algn="l">
              <a:lnSpc>
                <a:spcPct val="120000"/>
              </a:lnSpc>
              <a:spcAft>
                <a:spcPts val="1120"/>
              </a:spcAft>
              <a:defRPr sz="40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“revenue went up.”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002532"/>
            <a:ext cx="1371600" cy="32004"/>
          </a:xfrm>
          <a:prstGeom prst="rect">
            <a:avLst/>
          </a:prstGeom>
          <a:solidFill>
            <a:srgbClr val="8F0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24942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504"/>
              </a:spcAft>
              <a:defRPr sz="1800" b="0">
                <a:solidFill>
                  <a:srgbClr val="5F5D5C"/>
                </a:solidFill>
                <a:latin typeface="Helvetica Neue"/>
              </a:defRPr>
            </a:pPr>
            <a:r>
              <a:t>Lenses 6 to 8 are the ones that get skipped, and the ones that get you invited back into the room.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2   ·   THE EIGHT LENSES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36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68680" y="566928"/>
            <a:ext cx="2331720" cy="384048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6217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FFFFFF"/>
                </a:solidFill>
                <a:latin typeface="Helvetica Neue"/>
              </a:defRPr>
            </a:pPr>
            <a:r>
              <a:rPr spc="90"/>
              <a:t>HANDS-ON · 12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481328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616"/>
              </a:spcAft>
              <a:defRPr sz="2200" b="0">
                <a:solidFill>
                  <a:srgbClr val="121111"/>
                </a:solidFill>
                <a:latin typeface="Helvetica Neue"/>
              </a:defRPr>
            </a:pPr>
            <a:r>
              <a:t>Open ad-sales-data.csv in Aurex.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609344"/>
            <a:ext cx="201168" cy="201168"/>
          </a:xfrm>
          <a:prstGeom prst="ellipse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8" y="2267712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616"/>
              </a:spcAft>
              <a:defRPr sz="2200" b="0">
                <a:solidFill>
                  <a:srgbClr val="121111"/>
                </a:solidFill>
                <a:latin typeface="Helvetica Neue"/>
              </a:defRPr>
            </a:pPr>
            <a:r>
              <a:t>Pick any two lenses and run them properly.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395728"/>
            <a:ext cx="201168" cy="201168"/>
          </a:xfrm>
          <a:prstGeom prst="ellipse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07008" y="3054096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616"/>
              </a:spcAft>
              <a:defRPr sz="2200" b="0">
                <a:solidFill>
                  <a:srgbClr val="121111"/>
                </a:solidFill>
                <a:latin typeface="Helvetica Neue"/>
              </a:defRPr>
            </a:pPr>
            <a:r>
              <a:t>Write down which trap you checked for.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182112"/>
            <a:ext cx="201168" cy="201168"/>
          </a:xfrm>
          <a:prstGeom prst="ellipse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4224528"/>
            <a:ext cx="10469880" cy="32004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49884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32"/>
              </a:spcAft>
              <a:defRPr sz="1900" b="1">
                <a:solidFill>
                  <a:srgbClr val="0A6B5B"/>
                </a:solidFill>
                <a:latin typeface="Helvetica Neue"/>
              </a:defRPr>
            </a:pPr>
            <a:r>
              <a:t>Post in chat:  “The one thing that surprised you most”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5486400"/>
            <a:ext cx="54864" cy="420624"/>
          </a:xfrm>
          <a:prstGeom prst="rect">
            <a:avLst/>
          </a:prstGeom>
          <a:solidFill>
            <a:srgbClr val="0E8F7A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55412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0E8F7A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5504688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Naming the trap you checked for is the habit. A finding is worth less than the check.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rPr spc="120"/>
              <a:t>MODULE 3   ·   THE CHART 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t>37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984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C79A2F"/>
                </a:solidFill>
                <a:latin typeface="Helvetica Neue"/>
              </a:defRPr>
            </a:pPr>
            <a:r>
              <a:rPr spc="160"/>
              <a:t>MODULE 3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47088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184"/>
              </a:spcAft>
              <a:defRPr sz="7800" b="1">
                <a:solidFill>
                  <a:srgbClr val="3A3533"/>
                </a:solidFill>
                <a:latin typeface="Helvetica Neue"/>
              </a:defRPr>
            </a:pPr>
            <a:r>
              <a:rPr spc="-200"/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27248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1120"/>
              </a:spcAft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rPr spc="-90"/>
              <a:t>The Chart Selector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443984"/>
            <a:ext cx="1828800" cy="45720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9509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504"/>
              </a:spcAft>
              <a:defRPr sz="1800" b="0">
                <a:solidFill>
                  <a:srgbClr val="BCB6B0"/>
                </a:solidFill>
                <a:latin typeface="Helvetica Neue"/>
              </a:defRPr>
            </a:pPr>
            <a:r>
              <a:t>Nine comparisons, nine answers. Name the comparison out loud</a:t>
            </a:r>
          </a:p>
          <a:p>
            <a:pPr algn="l">
              <a:lnSpc>
                <a:spcPct val="132000"/>
              </a:lnSpc>
              <a:spcAft>
                <a:spcPts val="504"/>
              </a:spcAft>
              <a:defRPr sz="1800" b="0">
                <a:solidFill>
                  <a:srgbClr val="BCB6B0"/>
                </a:solidFill>
                <a:latin typeface="Helvetica Neue"/>
              </a:defRPr>
            </a:pPr>
            <a:r>
              <a:t>and the chart stops being a matter of taste.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1">
                <a:solidFill>
                  <a:srgbClr val="C79A2F"/>
                </a:solidFill>
                <a:latin typeface="Helvetica Neue"/>
              </a:defRPr>
            </a:pPr>
            <a:r>
              <a:rPr spc="110"/>
              <a:t>15 MINUTES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3   ·   THE CHART 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38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C79A2F"/>
                </a:solidFill>
                <a:latin typeface="Helvetica Neue"/>
              </a:defRPr>
            </a:pPr>
            <a:r>
              <a:rPr spc="140"/>
              <a:t>THE SELECTOR</a:t>
            </a:r>
          </a:p>
        </p:txBody>
      </p:sp>
      <p:pic>
        <p:nvPicPr>
          <p:cNvPr id="6" name="Picture 5" descr="d_chart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801" y="841248"/>
            <a:ext cx="7992093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614416"/>
            <a:ext cx="54864" cy="420624"/>
          </a:xfrm>
          <a:prstGeom prst="rect">
            <a:avLst/>
          </a:prstGeom>
          <a:solidFill>
            <a:srgbClr val="C79A2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56692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C79A2F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5632704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Finish “I am comparing ___ across ___” and the chart has already been chosen.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3   ·   THE CHART 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39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C79A2F"/>
                </a:solidFill>
                <a:latin typeface="Helvetica Neue"/>
              </a:defRPr>
            </a:pPr>
            <a:r>
              <a:rPr spc="140"/>
              <a:t>THE SAME NUMBERS, TWICE</a:t>
            </a:r>
          </a:p>
        </p:txBody>
      </p:sp>
      <p:pic>
        <p:nvPicPr>
          <p:cNvPr id="6" name="Picture 5" descr="d_wrong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" y="841248"/>
            <a:ext cx="11155680" cy="44634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504688"/>
            <a:ext cx="54864" cy="420624"/>
          </a:xfrm>
          <a:prstGeom prst="rect">
            <a:avLst/>
          </a:prstGeom>
          <a:solidFill>
            <a:srgbClr val="C79A2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555955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C79A2F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5522976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Nobody makes the bad chart on purpose. It is the default, and the default is never finished.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3   ·   THE CHART SELECTOR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40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Three rules that fix almost every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Then point at anything still on the chart and ask what it proves. If it does not support the title, take it off.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6112" y="2697480"/>
            <a:ext cx="402336" cy="402336"/>
          </a:xfrm>
          <a:prstGeom prst="ellipse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60604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Put the finding in the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95351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“Display is 63% of revenue”, never “Revenue by Ad Type”.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630168"/>
            <a:ext cx="402336" cy="402336"/>
          </a:xfrm>
          <a:prstGeom prst="ellipse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3538728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One colour carries the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38862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Everything else goes grey. Colour is an argument, not decoration.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4562856"/>
            <a:ext cx="402336" cy="402336"/>
          </a:xfrm>
          <a:prstGeom prst="ellipse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4471416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Label the bars, delete the furniture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4818888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Legend, gridlines, border, markers. All of it competes with the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577840"/>
            <a:ext cx="54864" cy="420624"/>
          </a:xfrm>
          <a:prstGeom prst="rect">
            <a:avLst/>
          </a:prstGeom>
          <a:solidFill>
            <a:srgbClr val="C79A2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563270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C79A2F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5596128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A title that names the finding does the reader's work. A title that names the axes does not.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rPr spc="120"/>
              <a:t>MODULE 4   ·   THE SIX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t>41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984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4E79CF"/>
                </a:solidFill>
                <a:latin typeface="Helvetica Neue"/>
              </a:defRPr>
            </a:pPr>
            <a:r>
              <a:rPr spc="160"/>
              <a:t>MODULE 4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47088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184"/>
              </a:spcAft>
              <a:defRPr sz="7800" b="1">
                <a:solidFill>
                  <a:srgbClr val="3A3533"/>
                </a:solidFill>
                <a:latin typeface="Helvetica Neue"/>
              </a:defRPr>
            </a:pPr>
            <a:r>
              <a:rPr spc="-200"/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27248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1120"/>
              </a:spcAft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rPr spc="-90"/>
              <a:t>The Six Distortions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443984"/>
            <a:ext cx="1828800" cy="45720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9509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504"/>
              </a:spcAft>
              <a:defRPr sz="1800" b="0">
                <a:solidFill>
                  <a:srgbClr val="BCB6B0"/>
                </a:solidFill>
                <a:latin typeface="Helvetica Neue"/>
              </a:defRPr>
            </a:pPr>
            <a:r>
              <a:t>No formulas. Six ways a technically correct number</a:t>
            </a:r>
          </a:p>
          <a:p>
            <a:pPr algn="l">
              <a:lnSpc>
                <a:spcPct val="132000"/>
              </a:lnSpc>
              <a:spcAft>
                <a:spcPts val="504"/>
              </a:spcAft>
              <a:defRPr sz="1800" b="0">
                <a:solidFill>
                  <a:srgbClr val="BCB6B0"/>
                </a:solidFill>
                <a:latin typeface="Helvetica Neue"/>
              </a:defRPr>
            </a:pPr>
            <a:r>
              <a:t>ends up telling a room the wrong 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1">
                <a:solidFill>
                  <a:srgbClr val="4E79CF"/>
                </a:solidFill>
                <a:latin typeface="Helvetica Neue"/>
              </a:defRPr>
            </a:pPr>
            <a:r>
              <a:rPr spc="110"/>
              <a:t>20 MINUTES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4   ·   THE SIX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42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DISTORTION 1 — COUNTS WHERE RATES BELONG</a:t>
            </a:r>
          </a:p>
        </p:txBody>
      </p:sp>
      <p:pic>
        <p:nvPicPr>
          <p:cNvPr id="6" name="Picture 5" descr="s_rate_vs_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" y="841248"/>
            <a:ext cx="11155680" cy="436822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440680"/>
            <a:ext cx="54864" cy="420624"/>
          </a:xfrm>
          <a:prstGeom prst="rect">
            <a:avLst/>
          </a:prstGeom>
          <a:solidFill>
            <a:srgbClr val="4E79C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549554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5458968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Counts tell you who is biggest. Rates tell you who is good. Only one is a decision.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4   ·   THE SIX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43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562351"/>
            <a:ext cx="10561320" cy="1184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1288"/>
              </a:spcAft>
              <a:defRPr sz="4600" b="1">
                <a:solidFill>
                  <a:srgbClr val="121111"/>
                </a:solidFill>
                <a:latin typeface="Helvetica Neue"/>
              </a:defRPr>
            </a:pPr>
            <a:r>
              <a:rPr spc="-70"/>
              <a:t>Always ask “per what?”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683000"/>
            <a:ext cx="1371600" cy="32004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3929887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504"/>
              </a:spcAft>
              <a:defRPr sz="1800" b="0">
                <a:solidFill>
                  <a:srgbClr val="5F5D5C"/>
                </a:solidFill>
                <a:latin typeface="Helvetica Neue"/>
              </a:defRPr>
            </a:pPr>
            <a:r>
              <a:t>Counts reward whoever is biggest. Divide by something and you find out who is actually good at it. Per order, per rep, per rupee spent, per head.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4   ·   THE SIX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44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DISTORTION 2 — THE MEAN QUOTED AS TYPICAL</a:t>
            </a:r>
          </a:p>
        </p:txBody>
      </p:sp>
      <p:pic>
        <p:nvPicPr>
          <p:cNvPr id="6" name="Picture 5" descr="t5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187" y="841248"/>
            <a:ext cx="7061321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614416"/>
            <a:ext cx="54864" cy="420624"/>
          </a:xfrm>
          <a:prstGeom prst="rect">
            <a:avLst/>
          </a:prstGeom>
          <a:solidFill>
            <a:srgbClr val="4E79C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56692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5632704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The mean here is 2.3× the median. Say “average” in a meeting and you overstate by that much.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4   ·   THE SIX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45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Mean, median, and the gap between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Read the gap before you quote either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4E79CF"/>
                </a:solidFill>
                <a:latin typeface="Helvetica Neue"/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6039" y="1755648"/>
            <a:ext cx="4059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4E79CF"/>
                </a:solidFill>
                <a:latin typeface="Helvetica Neue"/>
              </a:defRPr>
            </a:pPr>
            <a:r>
              <a:rPr spc="110"/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79" y="1755648"/>
            <a:ext cx="4379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4E79CF"/>
                </a:solidFill>
                <a:latin typeface="Helvetica Neue"/>
              </a:defRPr>
            </a:pPr>
            <a:r>
              <a:rPr spc="110"/>
              <a:t>WHEN TO USE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048255"/>
            <a:ext cx="10469880" cy="16459"/>
          </a:xfrm>
          <a:prstGeom prst="rect">
            <a:avLst/>
          </a:prstGeom>
          <a:solidFill>
            <a:srgbClr val="D6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194560"/>
            <a:ext cx="157276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Mean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2194560"/>
            <a:ext cx="404164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Add everything up, divide by the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79" y="2194560"/>
            <a:ext cx="436168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Values cluster together with no long 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871215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2980944"/>
            <a:ext cx="157276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Median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39" y="2980944"/>
            <a:ext cx="404164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Line them up, take the one in the middle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79" y="2980944"/>
            <a:ext cx="436168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A few large values are pulling the average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657599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767327"/>
            <a:ext cx="157276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92"/>
              </a:spcAft>
              <a:defRPr sz="1400" b="1">
                <a:solidFill>
                  <a:srgbClr val="121111"/>
                </a:solidFill>
                <a:latin typeface="Helvetica Neue"/>
              </a:defRPr>
            </a:pPr>
            <a:r>
              <a:t>The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39" y="3767327"/>
            <a:ext cx="404164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₹1.80L mean against ₹0.79L median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3767327"/>
            <a:ext cx="4361688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At 2.3× apart, quoting the mean overstates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44398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8680" y="4718304"/>
            <a:ext cx="54864" cy="420624"/>
          </a:xfrm>
          <a:prstGeom prst="rect">
            <a:avLst/>
          </a:prstGeom>
          <a:solidFill>
            <a:srgbClr val="4E79C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5568" y="477316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7168" y="4736592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Check the ratio before you quote either. More than 1.3× apart, the mean is not “typical”.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4   ·   THE SIX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46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DISTORTION 3 — CALENDAR READ AS PERFORMANCE</a:t>
            </a:r>
          </a:p>
        </p:txBody>
      </p:sp>
      <p:pic>
        <p:nvPicPr>
          <p:cNvPr id="6" name="Picture 5" descr="s_season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642" y="841248"/>
            <a:ext cx="7480411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614416"/>
            <a:ext cx="54864" cy="420624"/>
          </a:xfrm>
          <a:prstGeom prst="rect">
            <a:avLst/>
          </a:prstGeom>
          <a:solidFill>
            <a:srgbClr val="4E79C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56692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5632704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This file swings threefold across the year. A month-on-month number here is mostly calendar.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4   ·   THE SIX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47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Which growth comparison to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This file swings threefold between July and October, so a month-on-month number here is mostly calendar.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6112" y="2697480"/>
            <a:ext cx="402336" cy="402336"/>
          </a:xfrm>
          <a:prstGeom prst="ellipse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60604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Year on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95351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This January against last January. Cancels seasonality. Your default.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630168"/>
            <a:ext cx="402336" cy="402336"/>
          </a:xfrm>
          <a:prstGeom prst="ellipse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3538728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Month on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38862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Fast signal, very noisy. Never multiply it by 12 to get an annual rate.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4562856"/>
            <a:ext cx="402336" cy="402336"/>
          </a:xfrm>
          <a:prstGeom prst="ellipse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4471416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A part-finished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4818888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Exclude it, or put the day count right next to the number.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577840"/>
            <a:ext cx="54864" cy="420624"/>
          </a:xfrm>
          <a:prstGeom prst="rect">
            <a:avLst/>
          </a:prstGeom>
          <a:solidFill>
            <a:srgbClr val="4E79C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563270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5596128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Year on year is your default. Never annualise a monthly number by multiplying it by twelve.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4   ·   THE SIX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48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31089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DISTORTION 4 — PERCENTAGES ON TINY SAMPLES</a:t>
            </a:r>
          </a:p>
        </p:txBody>
      </p:sp>
      <p:pic>
        <p:nvPicPr>
          <p:cNvPr id="6" name="Picture 5" descr="s_small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302" y="841248"/>
            <a:ext cx="7897091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5614416"/>
            <a:ext cx="54864" cy="420624"/>
          </a:xfrm>
          <a:prstGeom prst="rect">
            <a:avLst/>
          </a:prstGeom>
          <a:solidFill>
            <a:srgbClr val="4E79C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56692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4E79CF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5632704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Always print the denominator beside the percentage. Under 30 observations, quote the count.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4   ·   THE SIX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49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Distortion 5 — correlation reported as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Two series moving together is the beginning of the work, not the 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728"/>
              </a:spcAft>
              <a:defRPr sz="26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Ice cream sales and drowning deaths rise together.</a:t>
            </a:r>
          </a:p>
          <a:p>
            <a:pPr algn="l">
              <a:lnSpc>
                <a:spcPct val="126000"/>
              </a:lnSpc>
              <a:spcAft>
                <a:spcPts val="728"/>
              </a:spcAft>
              <a:defRPr sz="26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Summer drives both.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328415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547872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4E79CF"/>
                </a:solidFill>
                <a:latin typeface="Helvetica Neue"/>
              </a:defRPr>
            </a:pPr>
            <a:r>
              <a:rPr spc="110"/>
              <a:t>SO WHEN YOU FIND A RELATIONSHIP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50208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121111"/>
                </a:solidFill>
                <a:latin typeface="Helvetica Neue"/>
              </a:defRPr>
            </a:pPr>
            <a:r>
              <a:t>Ask what else changed in the same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97680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5F5D5C"/>
                </a:solidFill>
                <a:latin typeface="Helvetica Neue"/>
              </a:defRPr>
            </a:pPr>
            <a:r>
              <a:t>Campaigns, pricing, seasonality, a tracking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64608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121111"/>
                </a:solidFill>
                <a:latin typeface="Helvetica Neue"/>
              </a:defRPr>
            </a:pPr>
            <a:r>
              <a:t>Say out loud whether you observed it or inferred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12080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5F5D5C"/>
                </a:solidFill>
                <a:latin typeface="Helvetica Neue"/>
              </a:defRPr>
            </a:pPr>
            <a:r>
              <a:t>Two words. It changes how the room treats the claim.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779008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121111"/>
                </a:solidFill>
                <a:latin typeface="Helvetica Neue"/>
              </a:defRPr>
            </a:pPr>
            <a:r>
              <a:t>Go looking for the third thing driving both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126480"/>
            <a:ext cx="10241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5F5D5C"/>
                </a:solidFill>
                <a:latin typeface="Helvetica Neue"/>
              </a:defRPr>
            </a:pPr>
            <a:r>
              <a:t>That is usually where the actual explanation is.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rPr spc="120"/>
              <a:t>MODULE 4   ·   THE SIX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t>50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4864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C79A2F"/>
                </a:solidFill>
                <a:latin typeface="Helvetica Neue"/>
              </a:defRPr>
            </a:pPr>
            <a:r>
              <a:rPr spc="150"/>
              <a:t>WAR STORY · HT DIGITAL STREAMS  ·  PLATFORM CONSOLIDATION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69264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812"/>
              </a:spcAft>
              <a:defRPr sz="2900" b="1">
                <a:solidFill>
                  <a:srgbClr val="FFFFFF"/>
                </a:solidFill>
                <a:latin typeface="Helvetica Neue"/>
              </a:defRPr>
            </a:pPr>
            <a:r>
              <a:rPr spc="-60"/>
              <a:t>Three tools, three versions of the same metric.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2000"/>
              </a:lnSpc>
              <a:spcAft>
                <a:spcPts val="434"/>
              </a:spcAft>
              <a:defRPr sz="1550" b="0">
                <a:solidFill>
                  <a:srgbClr val="C4BEB8"/>
                </a:solidFill>
                <a:latin typeface="Helvetica Neue"/>
              </a:defRPr>
            </a:pPr>
            <a:r>
              <a:t>Mixpanel, Redshift and Elasticsearch each held a version of the truth, and teams quoted whichever one they had access to. Meetings were spent reconciling numbers rather than deciding anything.</a:t>
            </a:r>
          </a:p>
          <a:p>
            <a:pPr algn="l">
              <a:lnSpc>
                <a:spcPct val="142000"/>
              </a:lnSpc>
              <a:spcAft>
                <a:spcPts val="434"/>
              </a:spcAft>
              <a:defRPr sz="1550" b="0">
                <a:solidFill>
                  <a:srgbClr val="C4BEB8"/>
                </a:solidFill>
                <a:latin typeface="Helvetica Neue"/>
              </a:defRPr>
            </a:pPr>
            <a:endParaRPr/>
          </a:p>
          <a:p>
            <a:pPr algn="l">
              <a:lnSpc>
                <a:spcPct val="142000"/>
              </a:lnSpc>
              <a:spcAft>
                <a:spcPts val="434"/>
              </a:spcAft>
              <a:defRPr sz="1550" b="0">
                <a:solidFill>
                  <a:srgbClr val="C4BEB8"/>
                </a:solidFill>
                <a:latin typeface="Helvetica Neue"/>
              </a:defRPr>
            </a:pPr>
            <a:r>
              <a:t>Consolidating onto one modelled layer with agreed definitions took most of six months. The reporting improvement was almost a side effect.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969264"/>
            <a:ext cx="3246120" cy="2651760"/>
          </a:xfrm>
          <a:prstGeom prst="rect">
            <a:avLst/>
          </a:prstGeom>
          <a:solidFill>
            <a:srgbClr val="332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92440" y="969264"/>
            <a:ext cx="50292" cy="2651760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192" y="1298448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1400"/>
              </a:spcAft>
              <a:defRPr sz="5000" b="1">
                <a:solidFill>
                  <a:srgbClr val="C79A2F"/>
                </a:solidFill>
                <a:latin typeface="Helvetica Neue"/>
              </a:defRPr>
            </a:pPr>
            <a:r>
              <a:rPr spc="-160"/>
              <a:t>₹2.5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2304288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  <a:defRPr sz="1250" b="0">
                <a:solidFill>
                  <a:srgbClr val="B0A9A2"/>
                </a:solidFill>
                <a:latin typeface="Helvetica Neue"/>
              </a:defRPr>
            </a:pPr>
            <a:r>
              <a:t>a year in run-rate savings once the duplicate stack was retired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285232"/>
            <a:ext cx="54864" cy="420624"/>
          </a:xfrm>
          <a:prstGeom prst="rect">
            <a:avLst/>
          </a:prstGeom>
          <a:solidFill>
            <a:srgbClr val="C79A2F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" y="53400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C79A2F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5303520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F4F0EB"/>
                </a:solidFill>
                <a:latin typeface="Helvetica Neue"/>
              </a:defRPr>
            </a:pPr>
            <a:r>
              <a:t>The undefined metric is the cheapest distortion to fix, and the one nobody owns.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rPr spc="120"/>
              <a:t>MODULE 5   ·   THE FIVE-CHECK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t>51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2984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B51D2A"/>
                </a:solidFill>
                <a:latin typeface="Helvetica Neue"/>
              </a:defRPr>
            </a:pPr>
            <a:r>
              <a:rPr spc="160"/>
              <a:t>MODULE 5 OF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47088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184"/>
              </a:spcAft>
              <a:defRPr sz="7800" b="1">
                <a:solidFill>
                  <a:srgbClr val="3A3533"/>
                </a:solidFill>
                <a:latin typeface="Helvetica Neue"/>
              </a:defRPr>
            </a:pPr>
            <a:r>
              <a:rPr spc="-200"/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27248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1120"/>
              </a:spcAft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rPr spc="-90"/>
              <a:t>The Five-Check Gate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443984"/>
            <a:ext cx="1828800" cy="45720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9509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2000"/>
              </a:lnSpc>
              <a:spcAft>
                <a:spcPts val="504"/>
              </a:spcAft>
              <a:defRPr sz="1800" b="0">
                <a:solidFill>
                  <a:srgbClr val="BCB6B0"/>
                </a:solidFill>
                <a:latin typeface="Helvetica Neue"/>
              </a:defRPr>
            </a:pPr>
            <a:r>
              <a:t>Aurex will run your code perfectly and still answer</a:t>
            </a:r>
          </a:p>
          <a:p>
            <a:pPr algn="l">
              <a:lnSpc>
                <a:spcPct val="132000"/>
              </a:lnSpc>
              <a:spcAft>
                <a:spcPts val="504"/>
              </a:spcAft>
              <a:defRPr sz="1800" b="0">
                <a:solidFill>
                  <a:srgbClr val="BCB6B0"/>
                </a:solidFill>
                <a:latin typeface="Helvetica Neue"/>
              </a:defRPr>
            </a:pPr>
            <a:r>
              <a:t>the wrong question. This is the gate before you send.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6188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08"/>
              </a:spcAft>
              <a:defRPr sz="110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15 MINUTES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5   ·   THE FIVE-CHECK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52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A groupby on the wrong column runs perfectly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Nothing in the output tells you the column was wrong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83664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4000"/>
              </a:lnSpc>
              <a:spcAft>
                <a:spcPts val="504"/>
              </a:spcAft>
              <a:defRPr sz="1800" b="0">
                <a:solidFill>
                  <a:srgbClr val="5F5D5C"/>
                </a:solidFill>
                <a:latin typeface="Helvetica Neue"/>
              </a:defRPr>
            </a:pPr>
            <a:r>
              <a:t>You get a clean table, a tidy chart and a confident summary. The failure mode moved from arithmetic to aim.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66"/>
              </a:spcAft>
              <a:defRPr sz="950" b="1">
                <a:solidFill>
                  <a:srgbClr val="B51D2A"/>
                </a:solidFill>
                <a:latin typeface="Helvetica Neue"/>
              </a:defRPr>
            </a:pPr>
            <a:r>
              <a:rPr spc="110"/>
              <a:t>MEASURED ACCURACY ON REAL SPREADSHEETS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364991"/>
            <a:ext cx="3310128" cy="96926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68680" y="3364991"/>
            <a:ext cx="50292" cy="969264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349300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0">
                <a:solidFill>
                  <a:srgbClr val="5F5D5C"/>
                </a:solidFill>
                <a:latin typeface="Helvetica Neue"/>
              </a:defRPr>
            </a:pPr>
            <a:r>
              <a:t>Looking things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3822191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0E8F7A"/>
                </a:solidFill>
                <a:latin typeface="Helvetica Neue"/>
              </a:defRPr>
            </a:pPr>
            <a:r>
              <a:rPr spc="-50"/>
              <a:t>89%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364991"/>
            <a:ext cx="3310128" cy="96926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3364991"/>
            <a:ext cx="50292" cy="969264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5152" y="349300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0">
                <a:solidFill>
                  <a:srgbClr val="5F5D5C"/>
                </a:solidFill>
                <a:latin typeface="Helvetica Neue"/>
              </a:defRPr>
            </a:pPr>
            <a:r>
              <a:t>Filtering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822191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0E8F7A"/>
                </a:solidFill>
                <a:latin typeface="Helvetica Neue"/>
              </a:defRPr>
            </a:pPr>
            <a:r>
              <a:rPr spc="-50"/>
              <a:t>71%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3364991"/>
            <a:ext cx="3310128" cy="96926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09560" y="3364991"/>
            <a:ext cx="50292" cy="969264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65592" y="349300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0">
                <a:solidFill>
                  <a:srgbClr val="5F5D5C"/>
                </a:solidFill>
                <a:latin typeface="Helvetica Neue"/>
              </a:defRPr>
            </a:pPr>
            <a:r>
              <a:t>Adding things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3822191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C79A2F"/>
                </a:solidFill>
                <a:latin typeface="Helvetica Neue"/>
              </a:defRPr>
            </a:pPr>
            <a:r>
              <a:rPr spc="-50"/>
              <a:t>54%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535424"/>
            <a:ext cx="3310128" cy="96926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" y="4535424"/>
            <a:ext cx="50292" cy="969264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24712" y="46634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0">
                <a:solidFill>
                  <a:srgbClr val="5F5D5C"/>
                </a:solidFill>
                <a:latin typeface="Helvetica Neue"/>
              </a:defRPr>
            </a:pPr>
            <a:r>
              <a:t>Counting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4992624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E01E29"/>
                </a:solidFill>
                <a:latin typeface="Helvetica Neue"/>
              </a:defRPr>
            </a:pPr>
            <a:r>
              <a:rPr spc="-50"/>
              <a:t>42%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535424"/>
            <a:ext cx="3310128" cy="96926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89120" y="4535424"/>
            <a:ext cx="50292" cy="969264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45152" y="46634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0">
                <a:solidFill>
                  <a:srgbClr val="5F5D5C"/>
                </a:solidFill>
                <a:latin typeface="Helvetica Neue"/>
              </a:defRPr>
            </a:pPr>
            <a:r>
              <a:t>Sorting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4992624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E01E29"/>
                </a:solidFill>
                <a:latin typeface="Helvetica Neue"/>
              </a:defRPr>
            </a:pPr>
            <a:r>
              <a:rPr spc="-50"/>
              <a:t>38%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4535424"/>
            <a:ext cx="3310128" cy="969264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909560" y="4535424"/>
            <a:ext cx="50292" cy="969264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65592" y="46634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64"/>
              </a:spcAft>
              <a:defRPr sz="1300" b="0">
                <a:solidFill>
                  <a:srgbClr val="5F5D5C"/>
                </a:solidFill>
                <a:latin typeface="Helvetica Neue"/>
              </a:defRPr>
            </a:pPr>
            <a:r>
              <a:t>Medians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4992624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644"/>
              </a:spcAft>
              <a:defRPr sz="2300" b="1">
                <a:solidFill>
                  <a:srgbClr val="E01E29"/>
                </a:solidFill>
                <a:latin typeface="Helvetica Neue"/>
              </a:defRPr>
            </a:pPr>
            <a:r>
              <a:rPr spc="-50"/>
              <a:t>20%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5724144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68680" y="5852160"/>
            <a:ext cx="54864" cy="420624"/>
          </a:xfrm>
          <a:prstGeom prst="rect">
            <a:avLst/>
          </a:prstGeom>
          <a:solidFill>
            <a:srgbClr val="B51D2A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15568" y="59070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B51D2A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87168" y="5870448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Lookups come back right. Anything needing arithmetic across rows, check yourself.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5   ·   THE FIVE-CHECK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53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The Five-Check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94% of working spreadsheets already carry a human error. The bar here is checkability, not perfection.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6112" y="1874519"/>
            <a:ext cx="402336" cy="402336"/>
          </a:xfrm>
          <a:prstGeom prst="ellipse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1783079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Row accounting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130551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Ask how many rows it used, then compare that to how many are in the file.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2763316"/>
            <a:ext cx="402336" cy="402336"/>
          </a:xfrm>
          <a:prstGeom prst="ellipse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671876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Spot-verify the headline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3019348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Pick the number that matters most and check that one against the source.</a:t>
            </a:r>
          </a:p>
        </p:txBody>
      </p:sp>
      <p:sp>
        <p:nvSpPr>
          <p:cNvPr id="14" name="Oval 13"/>
          <p:cNvSpPr/>
          <p:nvPr/>
        </p:nvSpPr>
        <p:spPr>
          <a:xfrm>
            <a:off x="896112" y="3652113"/>
            <a:ext cx="402336" cy="402336"/>
          </a:xfrm>
          <a:prstGeom prst="ellipse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3560673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Ask it a second 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3908145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Different phrasing, same question. Two answers means you have none.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540910"/>
            <a:ext cx="402336" cy="402336"/>
          </a:xfrm>
          <a:prstGeom prst="ellipse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7904" y="4449470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Open what it made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7904" y="479694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Look at the axis. Read the labels. Generated files look finished early.</a:t>
            </a:r>
          </a:p>
        </p:txBody>
      </p:sp>
      <p:sp>
        <p:nvSpPr>
          <p:cNvPr id="20" name="Oval 19"/>
          <p:cNvSpPr/>
          <p:nvPr/>
        </p:nvSpPr>
        <p:spPr>
          <a:xfrm>
            <a:off x="896112" y="5429707"/>
            <a:ext cx="402336" cy="402336"/>
          </a:xfrm>
          <a:prstGeom prst="ellipse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5338267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18"/>
              </a:spcAft>
              <a:defRPr sz="1850" b="1">
                <a:solidFill>
                  <a:srgbClr val="121111"/>
                </a:solidFill>
                <a:latin typeface="Helvetica Neue"/>
              </a:defRPr>
            </a:pPr>
            <a:r>
              <a:t>Sign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5685739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92"/>
              </a:spcAft>
              <a:defRPr sz="1400" b="0">
                <a:solidFill>
                  <a:srgbClr val="5F5D5C"/>
                </a:solidFill>
                <a:latin typeface="Helvetica Neue"/>
              </a:defRPr>
            </a:pPr>
            <a:r>
              <a:t>Would you put your name on this? You are about to.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03720" y="27432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rPr spc="120"/>
              <a:t>MODULE 5   ·   THE FIVE-CHECK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54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68680" y="566928"/>
            <a:ext cx="2331720" cy="384048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62179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280"/>
              </a:spcAft>
              <a:defRPr sz="1000" b="1">
                <a:solidFill>
                  <a:srgbClr val="FFFFFF"/>
                </a:solidFill>
                <a:latin typeface="Helvetica Neue"/>
              </a:defRPr>
            </a:pPr>
            <a:r>
              <a:rPr spc="90"/>
              <a:t>HANDS-ON · 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481328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616"/>
              </a:spcAft>
              <a:defRPr sz="2200" b="0">
                <a:solidFill>
                  <a:srgbClr val="121111"/>
                </a:solidFill>
                <a:latin typeface="Helvetica Neue"/>
              </a:defRPr>
            </a:pPr>
            <a:r>
              <a:t>Take the finding you produced earlier.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609344"/>
            <a:ext cx="201168" cy="201168"/>
          </a:xfrm>
          <a:prstGeom prst="ellipse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8" y="2267712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616"/>
              </a:spcAft>
              <a:defRPr sz="2200" b="0">
                <a:solidFill>
                  <a:srgbClr val="121111"/>
                </a:solidFill>
                <a:latin typeface="Helvetica Neue"/>
              </a:defRPr>
            </a:pPr>
            <a:r>
              <a:t>Run all five checks against it.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395728"/>
            <a:ext cx="201168" cy="201168"/>
          </a:xfrm>
          <a:prstGeom prst="ellipse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07008" y="3054096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6000"/>
              </a:lnSpc>
              <a:spcAft>
                <a:spcPts val="616"/>
              </a:spcAft>
              <a:defRPr sz="2200" b="0">
                <a:solidFill>
                  <a:srgbClr val="121111"/>
                </a:solidFill>
                <a:latin typeface="Helvetica Neue"/>
              </a:defRPr>
            </a:pPr>
            <a:r>
              <a:t>Rewrite it as one sentence your manager could act on.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182112"/>
            <a:ext cx="201168" cy="201168"/>
          </a:xfrm>
          <a:prstGeom prst="ellipse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4224528"/>
            <a:ext cx="10469880" cy="32004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49884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532"/>
              </a:spcAft>
              <a:defRPr sz="1900" b="1">
                <a:solidFill>
                  <a:srgbClr val="0A6B5B"/>
                </a:solidFill>
                <a:latin typeface="Helvetica Neue"/>
              </a:defRPr>
            </a:pPr>
            <a:r>
              <a:t>Post in chat:  “Your one sentence”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5486400"/>
            <a:ext cx="54864" cy="420624"/>
          </a:xfrm>
          <a:prstGeom prst="rect">
            <a:avLst/>
          </a:prstGeom>
          <a:solidFill>
            <a:srgbClr val="B51D2A"/>
          </a:solidFill>
          <a:ln w="0"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554126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  <a:defRPr sz="900" b="1">
                <a:solidFill>
                  <a:srgbClr val="B51D2A"/>
                </a:solidFill>
                <a:latin typeface="Helvetica Neue"/>
              </a:defRPr>
            </a:pPr>
            <a:r>
              <a:rPr spc="140"/>
              <a:t>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5504688"/>
            <a:ext cx="8641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  <a:defRPr sz="1400" b="0">
                <a:solidFill>
                  <a:srgbClr val="121111"/>
                </a:solidFill>
                <a:latin typeface="Helvetica Neue"/>
              </a:defRPr>
            </a:pPr>
            <a:r>
              <a:t>The shape: what is true, by how much, what to do, and the caveat that stays attached.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8A857F"/>
                </a:solidFill>
                <a:latin typeface="Helvetica Neue"/>
              </a:defRPr>
            </a:pPr>
            <a:r>
              <a:t>55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658368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756"/>
              </a:spcAft>
              <a:defRPr sz="2700" b="1">
                <a:solidFill>
                  <a:srgbClr val="121111"/>
                </a:solidFill>
                <a:latin typeface="Helvetica Neue"/>
              </a:defRPr>
            </a:pPr>
            <a:r>
              <a:rPr spc="-50"/>
              <a:t>The five cards you are leaving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252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78"/>
              </a:spcAft>
              <a:defRPr sz="1350" b="0">
                <a:solidFill>
                  <a:srgbClr val="8A857F"/>
                </a:solidFill>
                <a:latin typeface="Helvetica Neue"/>
              </a:defRPr>
            </a:pPr>
            <a:r>
              <a:t>Each one works on any file, in any tool, in any department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572768"/>
            <a:ext cx="10469880" cy="10972"/>
          </a:xfrm>
          <a:prstGeom prst="rect">
            <a:avLst/>
          </a:prstGeom>
          <a:solidFill>
            <a:srgbClr val="E4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847088"/>
            <a:ext cx="10469880" cy="841248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847088"/>
            <a:ext cx="50292" cy="84124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02996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E01E29"/>
                </a:solidFill>
                <a:latin typeface="Helvetica Neue"/>
              </a:defRPr>
            </a:pPr>
            <a:r>
              <a:rPr spc="-40"/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9933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06"/>
              </a:spcAft>
              <a:defRPr sz="1450" b="1">
                <a:solidFill>
                  <a:srgbClr val="121111"/>
                </a:solidFill>
                <a:latin typeface="Helvetica Neue"/>
              </a:defRPr>
            </a:pPr>
            <a:r>
              <a:t>THE SEVEN-STEP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029968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  <a:defRPr sz="1250" b="0">
                <a:solidFill>
                  <a:srgbClr val="5F5D5C"/>
                </a:solidFill>
                <a:latin typeface="Helvetica Neue"/>
              </a:defRPr>
            </a:pPr>
            <a:r>
              <a:t>Context · Shape · Total · Break down · Compare · Drivers · Validate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798064"/>
            <a:ext cx="10469880" cy="841248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2798064"/>
            <a:ext cx="50292" cy="841248"/>
          </a:xfrm>
          <a:prstGeom prst="rect">
            <a:avLst/>
          </a:prstGeom>
          <a:solidFill>
            <a:srgbClr val="0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298094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0E8F7A"/>
                </a:solidFill>
                <a:latin typeface="Helvetica Neue"/>
              </a:defRPr>
            </a:pPr>
            <a:r>
              <a:rPr spc="-40"/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9443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06"/>
              </a:spcAft>
              <a:defRPr sz="1450" b="1">
                <a:solidFill>
                  <a:srgbClr val="121111"/>
                </a:solidFill>
                <a:latin typeface="Helvetica Neue"/>
              </a:defRPr>
            </a:pPr>
            <a:r>
              <a:t>THE EIGHT LENSES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980944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  <a:defRPr sz="1250" b="0">
                <a:solidFill>
                  <a:srgbClr val="5F5D5C"/>
                </a:solidFill>
                <a:latin typeface="Helvetica Neue"/>
              </a:defRPr>
            </a:pPr>
            <a:r>
              <a:t>Comparison · Ranking · Trend · Composition · Distribution · Correlation · Outliers · Decomposition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749039"/>
            <a:ext cx="10469880" cy="841248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8680" y="3749039"/>
            <a:ext cx="50292" cy="841248"/>
          </a:xfrm>
          <a:prstGeom prst="rect">
            <a:avLst/>
          </a:prstGeom>
          <a:solidFill>
            <a:srgbClr val="C79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3931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C79A2F"/>
                </a:solidFill>
                <a:latin typeface="Helvetica Neue"/>
              </a:defRPr>
            </a:pPr>
            <a:r>
              <a:rPr spc="-40"/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8953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06"/>
              </a:spcAft>
              <a:defRPr sz="1450" b="1">
                <a:solidFill>
                  <a:srgbClr val="121111"/>
                </a:solidFill>
                <a:latin typeface="Helvetica Neue"/>
              </a:defRPr>
            </a:pPr>
            <a:r>
              <a:t>THE CHART SELECTOR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9319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  <a:defRPr sz="1250" b="0">
                <a:solidFill>
                  <a:srgbClr val="5F5D5C"/>
                </a:solidFill>
                <a:latin typeface="Helvetica Neue"/>
              </a:defRPr>
            </a:pPr>
            <a:r>
              <a:t>Name the comparison, take the chart it gives you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700016"/>
            <a:ext cx="10469880" cy="841248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" y="4700016"/>
            <a:ext cx="50292" cy="841248"/>
          </a:xfrm>
          <a:prstGeom prst="rect">
            <a:avLst/>
          </a:prstGeom>
          <a:solidFill>
            <a:srgbClr val="4E7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88720" y="488289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4E79CF"/>
                </a:solidFill>
                <a:latin typeface="Helvetica Neue"/>
              </a:defRPr>
            </a:pPr>
            <a:r>
              <a:rPr spc="-40"/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06"/>
              </a:spcAft>
              <a:defRPr sz="1450" b="1">
                <a:solidFill>
                  <a:srgbClr val="121111"/>
                </a:solidFill>
                <a:latin typeface="Helvetica Neue"/>
              </a:defRPr>
            </a:pPr>
            <a:r>
              <a:t>THE SIX DISTORTIONS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882896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  <a:defRPr sz="1250" b="0">
                <a:solidFill>
                  <a:srgbClr val="5F5D5C"/>
                </a:solidFill>
                <a:latin typeface="Helvetica Neue"/>
              </a:defRPr>
            </a:pPr>
            <a:r>
              <a:t>Rates · Mean · Calendar · Sample size · Cause · Definitions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5650992"/>
            <a:ext cx="10469880" cy="841248"/>
          </a:xfrm>
          <a:prstGeom prst="rect">
            <a:avLst/>
          </a:prstGeom>
          <a:solidFill>
            <a:srgbClr val="F4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68680" y="5650992"/>
            <a:ext cx="50292" cy="841248"/>
          </a:xfrm>
          <a:prstGeom prst="rect">
            <a:avLst/>
          </a:prstGeom>
          <a:solidFill>
            <a:srgbClr val="B51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88720" y="58338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76"/>
              </a:spcAft>
              <a:defRPr sz="1700" b="1">
                <a:solidFill>
                  <a:srgbClr val="B51D2A"/>
                </a:solidFill>
                <a:latin typeface="Helvetica Neue"/>
              </a:defRPr>
            </a:pPr>
            <a:r>
              <a:rPr spc="-40"/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7972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406"/>
              </a:spcAft>
              <a:defRPr sz="1450" b="1">
                <a:solidFill>
                  <a:srgbClr val="121111"/>
                </a:solidFill>
                <a:latin typeface="Helvetica Neue"/>
              </a:defRPr>
            </a:pPr>
            <a:r>
              <a:t>THE FIVE-CHECK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5833872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50"/>
              </a:spcAft>
              <a:defRPr sz="1250" b="0">
                <a:solidFill>
                  <a:srgbClr val="5F5D5C"/>
                </a:solidFill>
                <a:latin typeface="Helvetica Neue"/>
              </a:defRPr>
            </a:pPr>
            <a:r>
              <a:t>Rows · Headline · Second phrasing · Open the file · Sign it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18520" y="6382512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4000"/>
              </a:lnSpc>
              <a:spcAft>
                <a:spcPts val="252"/>
              </a:spcAft>
              <a:defRPr sz="900" b="1">
                <a:solidFill>
                  <a:srgbClr val="B0AAA4"/>
                </a:solidFill>
                <a:latin typeface="Helvetica Neue"/>
              </a:defRPr>
            </a:pPr>
            <a:r>
              <a:t>56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2000"/>
              </a:lnSpc>
              <a:spcAft>
                <a:spcPts val="644"/>
              </a:spcAft>
              <a:defRPr sz="2300" b="0">
                <a:solidFill>
                  <a:srgbClr val="B0AAA4"/>
                </a:solidFill>
                <a:latin typeface="Helvetica Neue"/>
              </a:defRPr>
            </a:pPr>
            <a:r>
              <a:t>Somebody sends you a spreadsheet you did not build,</a:t>
            </a:r>
          </a:p>
          <a:p>
            <a:pPr algn="l">
              <a:lnSpc>
                <a:spcPct val="142000"/>
              </a:lnSpc>
              <a:spcAft>
                <a:spcPts val="644"/>
              </a:spcAft>
              <a:defRPr sz="2300" b="0">
                <a:solidFill>
                  <a:srgbClr val="B0AAA4"/>
                </a:solidFill>
                <a:latin typeface="Helvetica Neue"/>
              </a:defRPr>
            </a:pPr>
            <a:r>
              <a:t>about a part of the business you half-know,</a:t>
            </a:r>
          </a:p>
          <a:p>
            <a:pPr algn="l">
              <a:lnSpc>
                <a:spcPct val="142000"/>
              </a:lnSpc>
              <a:spcAft>
                <a:spcPts val="644"/>
              </a:spcAft>
              <a:defRPr sz="2300" b="0">
                <a:solidFill>
                  <a:srgbClr val="B0AAA4"/>
                </a:solidFill>
                <a:latin typeface="Helvetica Neue"/>
              </a:defRPr>
            </a:pPr>
            <a:r>
              <a:t>and wants your read on it by tomorrow morning.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13632"/>
            <a:ext cx="1828800" cy="45720"/>
          </a:xfrm>
          <a:prstGeom prst="rect">
            <a:avLst/>
          </a:prstGeom>
          <a:solidFill>
            <a:srgbClr val="E01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1120"/>
              </a:spcAft>
              <a:defRPr sz="4000" b="1">
                <a:solidFill>
                  <a:srgbClr val="FFFFFF"/>
                </a:solidFill>
                <a:latin typeface="Helvetica Neue"/>
              </a:defRPr>
            </a:pPr>
            <a:r>
              <a:rPr spc="-100"/>
              <a:t>You now have a sequence for that.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5838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4000"/>
              </a:lnSpc>
              <a:spcAft>
                <a:spcPts val="350"/>
              </a:spcAft>
              <a:defRPr sz="1250" b="0">
                <a:solidFill>
                  <a:srgbClr val="8A857F"/>
                </a:solidFill>
                <a:latin typeface="Helvetica Neue"/>
              </a:defRPr>
            </a:pPr>
            <a:r>
              <a:rPr spc="50"/>
              <a:t>Dishant Singla  ·  Base42 Systems  ·  run on Aurex, inside BCCL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12785</Words>
  <Application>Microsoft Macintosh PowerPoint</Application>
  <PresentationFormat>Widescreen</PresentationFormat>
  <Paragraphs>1304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Dishant Singla</cp:lastModifiedBy>
  <cp:revision>2</cp:revision>
  <dcterms:created xsi:type="dcterms:W3CDTF">2013-01-27T09:14:16Z</dcterms:created>
  <dcterms:modified xsi:type="dcterms:W3CDTF">2026-09-02T10:00:01Z</dcterms:modified>
  <cp:category/>
</cp:coreProperties>
</file>